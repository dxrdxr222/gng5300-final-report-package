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ce1c9a7df74cb7" /><Relationship Type="http://schemas.openxmlformats.org/officeDocument/2006/relationships/extended-properties" Target="/docProps/app.xml" Id="R4528da6759f348e3" /><Relationship Type="http://schemas.openxmlformats.org/officeDocument/2006/relationships/officeDocument" Target="/ppt/presentation.xml" Id="R23abe314f6cb49af" /></Relationships>
</file>

<file path=ppt/presentation.xml><?xml version="1.0" encoding="utf-8"?>
<p:presentation xmlns:p="http://schemas.openxmlformats.org/presentationml/2006/main">
  <p:sldMasterIdLst>
    <p:sldMasterId xmlns:r="http://schemas.openxmlformats.org/officeDocument/2006/relationships" id="2147483648" r:id="R6477acaa1b7847f0"/>
  </p:sldMasterIdLst>
  <p:notesMasterIdLst>
    <p:notesMasterId xmlns:r="http://schemas.openxmlformats.org/officeDocument/2006/relationships" r:id="R7b8bde5da88849ae"/>
  </p:notesMasterIdLst>
  <p:sldIdLst>
    <p:sldId xmlns:r="http://schemas.openxmlformats.org/officeDocument/2006/relationships" id="256" r:id="R53c5628954fe4cb7"/>
    <p:sldId xmlns:r="http://schemas.openxmlformats.org/officeDocument/2006/relationships" id="257" r:id="Rb19f5a7433cb4838"/>
    <p:sldId xmlns:r="http://schemas.openxmlformats.org/officeDocument/2006/relationships" id="258" r:id="R52254b98aa4d408f"/>
    <p:sldId xmlns:r="http://schemas.openxmlformats.org/officeDocument/2006/relationships" id="259" r:id="Rb7491a65fb59431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7fc28e554a4596" /><Relationship Type="http://schemas.openxmlformats.org/officeDocument/2006/relationships/slideMaster" Target="/ppt/slideMasters/slideMaster1.xml" Id="R6477acaa1b7847f0" /><Relationship Type="http://schemas.openxmlformats.org/officeDocument/2006/relationships/notesMaster" Target="/ppt/notesMasters/notesMaster1.xml" Id="R7b8bde5da88849ae" /><Relationship Type="http://schemas.openxmlformats.org/officeDocument/2006/relationships/presProps" Target="/ppt/presProps.xml" Id="R3ee5a10c78a14ad1" /><Relationship Type="http://schemas.openxmlformats.org/officeDocument/2006/relationships/tableStyles" Target="/ppt/tableStyles.xml" Id="R4c04febd98434b1d" /><Relationship Type="http://schemas.openxmlformats.org/officeDocument/2006/relationships/slide" Target="/ppt/slides/slide1.xml" Id="R53c5628954fe4cb7" /><Relationship Type="http://schemas.openxmlformats.org/officeDocument/2006/relationships/slide" Target="/ppt/slides/slide2.xml" Id="Rb19f5a7433cb4838" /><Relationship Type="http://schemas.openxmlformats.org/officeDocument/2006/relationships/slide" Target="/ppt/slides/slide3.xml" Id="R52254b98aa4d408f" /><Relationship Type="http://schemas.openxmlformats.org/officeDocument/2006/relationships/slide" Target="/ppt/slides/slide4.xml" Id="Rb7491a65fb5943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5e1bbd70da4e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dc8be25d2e47f4" /><Relationship Type="http://schemas.openxmlformats.org/officeDocument/2006/relationships/notesMaster" Target="/ppt/notesMasters/notesMaster1.xml" Id="R8f9a5f8c201844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e8224e8a624614" /><Relationship Type="http://schemas.openxmlformats.org/officeDocument/2006/relationships/notesMaster" Target="/ppt/notesMasters/notesMaster1.xml" Id="R0032cd5296c649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0815126d0a402b" /><Relationship Type="http://schemas.openxmlformats.org/officeDocument/2006/relationships/notesMaster" Target="/ppt/notesMasters/notesMaster1.xml" Id="R1753317a6a7d41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3a0bde29324598" /><Relationship Type="http://schemas.openxmlformats.org/officeDocument/2006/relationships/notesMaster" Target="/ppt/notesMasters/notesMaster1.xml" Id="Redfb9141ea5c42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config.py: it is the project's control panel for camera, detector sensitivity, YOLO, risk grading, stability, and audio behavior.</a:t>
            </a:r>
          </a:p>
          <a:p xmlns:a="http://schemas.openxmlformats.org/drawingml/2006/main">
            <a:r>
              <a:t>main.py only calls run_visual_guide_session(). The runtime constructs the camera, three detection sources, the stabilizer, and the approach-risk tracker.</a:t>
            </a:r>
          </a:p>
          <a:p xmlns:a="http://schemas.openxmlformats.org/drawingml/2006/main">
            <a:r>
              <a:t>For each frame the same pipeline runs: capture, perceive, assess, then caution. This separation makes each module testable and lets us tune behavior without rewriting the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camera is monocular: it supplies ordinary color frames, not depth data.</a:t>
            </a:r>
          </a:p>
          <a:p xmlns:a="http://schemas.openxmlformats.org/drawingml/2006/main">
            <a:r>
              <a:t>Low resolution and buffer control reduce lag. Dropping old frames is important because a safety warning based on an old image can be worse than no warning.</a:t>
            </a:r>
          </a:p>
          <a:p xmlns:a="http://schemas.openxmlformats.org/drawingml/2006/main">
            <a:r>
              <a:t>Before the continuous loop, the system asks for an empty view and builds a median background from 12 frames. Median capture is robust to a brief moving object or exposure fluctuation.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fast danger signals. Background difference finds anything that changed from the empty scene; frame-to-frame difference finds active motion.</a:t>
            </a:r>
          </a:p>
          <a:p xmlns:a="http://schemas.openxmlformats.org/drawingml/2006/main">
            <a:r>
              <a:t>Contours become bounding boxes. Very small regions are rejected as noise, and boxes covering too much of the image are rejected because camera movement can create one huge false region.</a:t>
            </a:r>
          </a:p>
          <a:p xmlns:a="http://schemas.openxmlformats.org/drawingml/2006/main">
            <a:r>
              <a:t>The primary candidate is selected mainly by closeness, then center direction, vertical position, source priority, and size.</a:t>
            </a:r>
          </a:p>
          <a:p xmlns:a="http://schemas.openxmlformats.org/drawingml/2006/main">
            <a:r>
              <a:t>YOLO answers 'what is it?' and is intentionally not the safety authority by default. Approach risk uses up to eight observations and requires size growth or falling estimated distance before lateral motion can become serious.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raw detection is not announced immediately. The box is smoothed, brief dropouts are held, and warning text must remain stable before it replaces the current output.</a:t>
            </a:r>
          </a:p>
          <a:p xmlns:a="http://schemas.openxmlformats.org/drawingml/2006/main">
            <a:r>
              <a:t>The message rules are simple to explain: far objects are ignored unless the approach tracker says medium or high risk; medium center objects receive caution; close center objects receive stop.</a:t>
            </a:r>
          </a:p>
          <a:p xmlns:a="http://schemas.openxmlformats.org/drawingml/2006/main">
            <a:r>
              <a:t>Audio is non-blocking. In the current beep configuration, audio is reserved for an approaching object ahead or for a warning containing a recognized car or bicycle. Repetition limits prevent continuous alarm fatigue.</a:t>
            </a:r>
          </a:p>
          <a:p xmlns:a="http://schemas.openxmlformats.org/drawingml/2006/main">
            <a:r>
              <a:t>Close by emphasizing that the system combines responsiveness with filtering: it reacts quickly to an urgent center danger but suppresses flicker, lateral-only motion, and repeated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46a77d2d0f48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5bb0afe03c4274" /><Relationship Type="http://schemas.openxmlformats.org/officeDocument/2006/relationships/slideLayout" Target="/ppt/slideLayouts/slideLayout1.xml" Id="Rd848ef0e050748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48ef0e050748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4a3a5dfc8c4c06" /><Relationship Type="http://schemas.openxmlformats.org/officeDocument/2006/relationships/notesSlide" Target="/ppt/notesSlides/notesSlide1.xml" Id="R0c9df5a5abd64d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4eeb81fe084487" /><Relationship Type="http://schemas.openxmlformats.org/officeDocument/2006/relationships/image" Target="/ppt/media/image.png" Id="R451ef27d905e41b5" /><Relationship Type="http://schemas.openxmlformats.org/officeDocument/2006/relationships/notesSlide" Target="/ppt/notesSlides/notesSlide2.xml" Id="Reb9c10e42c5c42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676fde1cbd4138" /><Relationship Type="http://schemas.openxmlformats.org/officeDocument/2006/relationships/notesSlide" Target="/ppt/notesSlides/notesSlide3.xml" Id="Ra14bb638bf8642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7779ee3f9747bf" /><Relationship Type="http://schemas.openxmlformats.org/officeDocument/2006/relationships/notesSlide" Target="/ppt/notesSlides/notesSlide4.xml" Id="R29fa4323d1734e4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1-title">
            <a:extLst xmlns:a="http://schemas.openxmlformats.org/drawingml/2006/main">
              <a:ext uri="{FF2B5EF4-FFF2-40B4-BE49-F238E27FC236}">
                <a16:creationId xmlns:a16="http://schemas.microsoft.com/office/drawing/2014/main" id="{EA69EECB-D26F-4468-BB2E-D31C6EE4F39F}"/>
              </a:ext>
            </a:extLst>
          </p:cNvPr>
          <p:cNvSpPr>
            <a:spLocks xmlns:a="http://schemas.openxmlformats.org/drawingml/2006/main" noGrp="1"/>
          </p:cNvSpPr>
          <p:nvPr/>
        </p:nvSpPr>
        <p:spPr>
          <a:xfrm xmlns:a="http://schemas.openxmlformats.org/drawingml/2006/main">
            <a:off x="400050" y="32385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820"/>
                </a:solidFill>
                <a:latin typeface="Arial"/>
                <a:ea typeface="Arial"/>
                <a:cs typeface="Arial"/>
              </a:defRPr>
            </a:pPr>
            <a:r>
              <a:rPr sz="2925" b="1">
                <a:solidFill>
                  <a:srgbClr val="101820"/>
                </a:solidFill>
                <a:latin typeface="Arial"/>
                <a:ea typeface="Arial"/>
                <a:cs typeface="Arial"/>
              </a:rPr>
              <a:t>One loop turns camera frames into actionable guidance</a:t>
            </a:r>
          </a:p>
        </p:txBody>
      </p:sp>
      <p:sp>
        <p:nvSpPr>
          <p:cNvPr id="2" name="">
            <a:extLst xmlns:a="http://schemas.openxmlformats.org/drawingml/2006/main">
              <a:ext uri="{FF2B5EF4-FFF2-40B4-BE49-F238E27FC236}">
                <a16:creationId xmlns:a16="http://schemas.microsoft.com/office/drawing/2014/main" id="{43BC564B-170A-4554-8D7E-5AAAF0B71DDB}"/>
              </a:ext>
            </a:extLst>
          </p:cNvPr>
          <p:cNvSpPr>
            <a:spLocks xmlns:a="http://schemas.openxmlformats.org/drawingml/2006/main" noGrp="1"/>
          </p:cNvSpPr>
          <p:nvPr/>
        </p:nvSpPr>
        <p:spPr>
          <a:xfrm xmlns:a="http://schemas.openxmlformats.org/drawingml/2006/main">
            <a:off x="112204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2606D"/>
                </a:solidFill>
                <a:latin typeface="Arial"/>
                <a:ea typeface="Arial"/>
                <a:cs typeface="Arial"/>
              </a:defRPr>
            </a:pPr>
            <a:r>
              <a:rPr sz="1050" b="0">
                <a:solidFill>
                  <a:srgbClr val="5260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93A842F-916E-4499-AFED-01E40F476AD1}"/>
              </a:ext>
            </a:extLst>
          </p:cNvPr>
          <p:cNvSpPr>
            <a:spLocks xmlns:a="http://schemas.openxmlformats.org/drawingml/2006/main" noGrp="1"/>
          </p:cNvSpPr>
          <p:nvPr/>
        </p:nvSpPr>
        <p:spPr>
          <a:xfrm xmlns:a="http://schemas.openxmlformats.org/drawingml/2006/main">
            <a:off x="419100" y="10668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main.py starts visual_guide_runtime.py; config.py supplies every switch and threshold.</a:t>
            </a:r>
          </a:p>
        </p:txBody>
      </p:sp>
      <p:cxnSp>
        <p:nvCxnSpPr>
          <p:cNvPr id="36" name=""/>
          <p:cNvCxnSpPr/>
          <p:nvPr/>
        </p:nvCxnSpPr>
        <p:spPr>
          <a:xfrm xmlns:a="http://schemas.openxmlformats.org/drawingml/2006/main">
            <a:off x="4667250" y="3429000"/>
            <a:ext cx="609600" cy="0"/>
          </a:xfrm>
          <a:prstGeom xmlns:a="http://schemas.openxmlformats.org/drawingml/2006/main" prst="straightConnector1">
            <a:avLst/>
          </a:prstGeom>
          <a:ln xmlns:a="http://schemas.openxmlformats.org/drawingml/2006/main" w="28575">
            <a:solidFill>
              <a:srgbClr val="00A7B5"/>
            </a:solidFill>
            <a:prstDash val="solid"/>
          </a:ln>
        </p:spPr>
      </p:cxnSp>
      <p:cxnSp>
        <p:nvCxnSpPr>
          <p:cNvPr id="37" name=""/>
          <p:cNvCxnSpPr/>
          <p:nvPr/>
        </p:nvCxnSpPr>
        <p:spPr>
          <a:xfrm xmlns:a="http://schemas.openxmlformats.org/drawingml/2006/main">
            <a:off x="7086600" y="3429000"/>
            <a:ext cx="609600" cy="0"/>
          </a:xfrm>
          <a:prstGeom xmlns:a="http://schemas.openxmlformats.org/drawingml/2006/main" prst="straightConnector1">
            <a:avLst/>
          </a:prstGeom>
          <a:ln xmlns:a="http://schemas.openxmlformats.org/drawingml/2006/main" w="28575">
            <a:solidFill>
              <a:srgbClr val="00A7B5"/>
            </a:solidFill>
            <a:prstDash val="solid"/>
          </a:ln>
        </p:spPr>
      </p:cxnSp>
      <p:cxnSp>
        <p:nvCxnSpPr>
          <p:cNvPr id="38" name=""/>
          <p:cNvCxnSpPr/>
          <p:nvPr/>
        </p:nvCxnSpPr>
        <p:spPr>
          <a:xfrm xmlns:a="http://schemas.openxmlformats.org/drawingml/2006/main">
            <a:off x="9505950" y="3429000"/>
            <a:ext cx="609600" cy="0"/>
          </a:xfrm>
          <a:prstGeom xmlns:a="http://schemas.openxmlformats.org/drawingml/2006/main" prst="straightConnector1">
            <a:avLst/>
          </a:prstGeom>
          <a:ln xmlns:a="http://schemas.openxmlformats.org/drawingml/2006/main" w="28575">
            <a:solidFill>
              <a:srgbClr val="00A7B5"/>
            </a:solidFill>
            <a:prstDash val="solid"/>
          </a:ln>
        </p:spPr>
      </p:cxnSp>
      <p:sp>
        <p:nvSpPr>
          <p:cNvPr id="7" name="config-layer">
            <a:extLst xmlns:a="http://schemas.openxmlformats.org/drawingml/2006/main">
              <a:ext uri="{FF2B5EF4-FFF2-40B4-BE49-F238E27FC236}">
                <a16:creationId xmlns:a16="http://schemas.microsoft.com/office/drawing/2014/main" id="{AE3C4930-D03C-4665-AFAC-6B7804302F7C}"/>
              </a:ext>
            </a:extLst>
          </p:cNvPr>
          <p:cNvSpPr>
            <a:spLocks xmlns:a="http://schemas.openxmlformats.org/drawingml/2006/main" noGrp="1"/>
          </p:cNvSpPr>
          <p:nvPr/>
        </p:nvSpPr>
        <p:spPr>
          <a:xfrm xmlns:a="http://schemas.openxmlformats.org/drawingml/2006/main">
            <a:off x="419100" y="1809750"/>
            <a:ext cx="2190750" cy="3905250"/>
          </a:xfrm>
          <a:prstGeom xmlns:a="http://schemas.openxmlformats.org/drawingml/2006/main" prst="roundRect">
            <a:avLst>
              <a:gd name="adj" fmla="val 5217"/>
            </a:avLst>
          </a:prstGeom>
          <a:solidFill xmlns:a="http://schemas.openxmlformats.org/drawingml/2006/main">
            <a:srgbClr val="F3F6F8"/>
          </a:solidFill>
          <a:ln xmlns:a="http://schemas.openxmlformats.org/drawingml/2006/main" w="11430">
            <a:solidFill>
              <a:srgbClr val="B8C2CC"/>
            </a:solidFill>
            <a:prstDash val="solid"/>
          </a:ln>
        </p:spPr>
      </p:sp>
      <p:sp>
        <p:nvSpPr>
          <p:cNvPr id="8" name="">
            <a:extLst xmlns:a="http://schemas.openxmlformats.org/drawingml/2006/main">
              <a:ext uri="{FF2B5EF4-FFF2-40B4-BE49-F238E27FC236}">
                <a16:creationId xmlns:a16="http://schemas.microsoft.com/office/drawing/2014/main" id="{FC8FB6C2-CF83-4908-B28C-4B0B46DC5D17}"/>
              </a:ext>
            </a:extLst>
          </p:cNvPr>
          <p:cNvSpPr>
            <a:spLocks xmlns:a="http://schemas.openxmlformats.org/drawingml/2006/main" noGrp="1"/>
          </p:cNvSpPr>
          <p:nvPr/>
        </p:nvSpPr>
        <p:spPr>
          <a:xfrm xmlns:a="http://schemas.openxmlformats.org/drawingml/2006/main">
            <a:off x="647700" y="20383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7A5AF8"/>
                </a:solidFill>
                <a:latin typeface="Arial"/>
                <a:ea typeface="Arial"/>
                <a:cs typeface="Arial"/>
              </a:defRPr>
            </a:pPr>
            <a:r>
              <a:rPr sz="1125" b="1">
                <a:solidFill>
                  <a:srgbClr val="7A5AF8"/>
                </a:solidFill>
                <a:latin typeface="Arial"/>
                <a:ea typeface="Arial"/>
                <a:cs typeface="Arial"/>
              </a:rPr>
              <a:t>CONTROL LAYER</a:t>
            </a:r>
          </a:p>
        </p:txBody>
      </p:sp>
      <p:sp>
        <p:nvSpPr>
          <p:cNvPr id="9" name="">
            <a:extLst xmlns:a="http://schemas.openxmlformats.org/drawingml/2006/main">
              <a:ext uri="{FF2B5EF4-FFF2-40B4-BE49-F238E27FC236}">
                <a16:creationId xmlns:a16="http://schemas.microsoft.com/office/drawing/2014/main" id="{3E84D5B4-54FC-497D-BD4E-1D2C38A43B27}"/>
              </a:ext>
            </a:extLst>
          </p:cNvPr>
          <p:cNvSpPr>
            <a:spLocks xmlns:a="http://schemas.openxmlformats.org/drawingml/2006/main" noGrp="1"/>
          </p:cNvSpPr>
          <p:nvPr/>
        </p:nvSpPr>
        <p:spPr>
          <a:xfrm xmlns:a="http://schemas.openxmlformats.org/drawingml/2006/main">
            <a:off x="647700" y="23622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101820"/>
                </a:solidFill>
                <a:latin typeface="Arial"/>
                <a:ea typeface="Arial"/>
                <a:cs typeface="Arial"/>
              </a:defRPr>
            </a:pPr>
            <a:r>
              <a:rPr sz="2100" b="1">
                <a:solidFill>
                  <a:srgbClr val="101820"/>
                </a:solidFill>
                <a:latin typeface="Arial"/>
                <a:ea typeface="Arial"/>
                <a:cs typeface="Arial"/>
              </a:rPr>
              <a:t>config.py</a:t>
            </a:r>
          </a:p>
        </p:txBody>
      </p:sp>
      <p:sp>
        <p:nvSpPr>
          <p:cNvPr id="10" name="">
            <a:extLst xmlns:a="http://schemas.openxmlformats.org/drawingml/2006/main">
              <a:ext uri="{FF2B5EF4-FFF2-40B4-BE49-F238E27FC236}">
                <a16:creationId xmlns:a16="http://schemas.microsoft.com/office/drawing/2014/main" id="{35243220-1BC5-4D82-B06F-AA0105E38719}"/>
              </a:ext>
            </a:extLst>
          </p:cNvPr>
          <p:cNvSpPr>
            <a:spLocks xmlns:a="http://schemas.openxmlformats.org/drawingml/2006/main" noGrp="1"/>
          </p:cNvSpPr>
          <p:nvPr/>
        </p:nvSpPr>
        <p:spPr>
          <a:xfrm xmlns:a="http://schemas.openxmlformats.org/drawingml/2006/main">
            <a:off x="647700" y="2952750"/>
            <a:ext cx="1619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07"/>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Camera</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320 × 240 · 30 FPS</a:t>
            </a:r>
          </a:p>
          <a:p xmlns:a="http://schemas.openxmlformats.org/drawingml/2006/main">
            <a:r>
              <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Detection</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thresholds · intervals</a:t>
            </a:r>
          </a:p>
          <a:p xmlns:a="http://schemas.openxmlformats.org/drawingml/2006/main">
            <a:r>
              <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Risk</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growth · speed · direction</a:t>
            </a:r>
          </a:p>
          <a:p xmlns:a="http://schemas.openxmlformats.org/drawingml/2006/main">
            <a:r>
              <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Output</a:t>
            </a:r>
          </a:p>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beep / speech · repeat limits</a:t>
            </a:r>
          </a:p>
        </p:txBody>
      </p:sp>
      <p:sp>
        <p:nvSpPr>
          <p:cNvPr id="11" name="capture-node">
            <a:extLst xmlns:a="http://schemas.openxmlformats.org/drawingml/2006/main">
              <a:ext uri="{FF2B5EF4-FFF2-40B4-BE49-F238E27FC236}">
                <a16:creationId xmlns:a16="http://schemas.microsoft.com/office/drawing/2014/main" id="{001D75B1-BF5E-45FC-AA1E-37F35667E885}"/>
              </a:ext>
            </a:extLst>
          </p:cNvPr>
          <p:cNvSpPr>
            <a:spLocks xmlns:a="http://schemas.openxmlformats.org/drawingml/2006/main" noGrp="1"/>
          </p:cNvSpPr>
          <p:nvPr/>
        </p:nvSpPr>
        <p:spPr>
          <a:xfrm xmlns:a="http://schemas.openxmlformats.org/drawingml/2006/main">
            <a:off x="2857500" y="2381250"/>
            <a:ext cx="1809750" cy="2095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1430">
            <a:solidFill>
              <a:srgbClr val="00A7B5"/>
            </a:solidFill>
            <a:prstDash val="solid"/>
          </a:ln>
        </p:spPr>
      </p:sp>
      <p:sp>
        <p:nvSpPr>
          <p:cNvPr id="12" name="">
            <a:extLst xmlns:a="http://schemas.openxmlformats.org/drawingml/2006/main">
              <a:ext uri="{FF2B5EF4-FFF2-40B4-BE49-F238E27FC236}">
                <a16:creationId xmlns:a16="http://schemas.microsoft.com/office/drawing/2014/main" id="{D7047D76-9D60-401F-8120-86AA40C042AC}"/>
              </a:ext>
            </a:extLst>
          </p:cNvPr>
          <p:cNvSpPr>
            <a:spLocks xmlns:a="http://schemas.openxmlformats.org/drawingml/2006/main" noGrp="1"/>
          </p:cNvSpPr>
          <p:nvPr/>
        </p:nvSpPr>
        <p:spPr>
          <a:xfrm xmlns:a="http://schemas.openxmlformats.org/drawingml/2006/main">
            <a:off x="2857500" y="2381250"/>
            <a:ext cx="1809750" cy="114300"/>
          </a:xfrm>
          <a:prstGeom xmlns:a="http://schemas.openxmlformats.org/drawingml/2006/main" prst="rect">
            <a:avLst/>
          </a:prstGeom>
          <a:solidFill xmlns:a="http://schemas.openxmlformats.org/drawingml/2006/main">
            <a:srgbClr val="00A7B5"/>
          </a:solidFill>
          <a:ln xmlns:a="http://schemas.openxmlformats.org/drawingml/2006/main" w="11430">
            <a:solidFill>
              <a:srgbClr val="00A7B5"/>
            </a:solidFill>
            <a:prstDash val="solid"/>
          </a:ln>
        </p:spPr>
      </p:sp>
      <p:sp>
        <p:nvSpPr>
          <p:cNvPr id="13" name="">
            <a:extLst xmlns:a="http://schemas.openxmlformats.org/drawingml/2006/main">
              <a:ext uri="{FF2B5EF4-FFF2-40B4-BE49-F238E27FC236}">
                <a16:creationId xmlns:a16="http://schemas.microsoft.com/office/drawing/2014/main" id="{7305C351-AE08-47EE-B342-12F3817AA7E2}"/>
              </a:ext>
            </a:extLst>
          </p:cNvPr>
          <p:cNvSpPr>
            <a:spLocks xmlns:a="http://schemas.openxmlformats.org/drawingml/2006/main" noGrp="1"/>
          </p:cNvSpPr>
          <p:nvPr/>
        </p:nvSpPr>
        <p:spPr>
          <a:xfrm xmlns:a="http://schemas.openxmlformats.org/drawingml/2006/main">
            <a:off x="3028950" y="26860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101820"/>
                </a:solidFill>
                <a:latin typeface="Arial"/>
                <a:ea typeface="Arial"/>
                <a:cs typeface="Arial"/>
              </a:defRPr>
            </a:pPr>
            <a:r>
              <a:rPr sz="1875" b="1">
                <a:solidFill>
                  <a:srgbClr val="101820"/>
                </a:solidFill>
                <a:latin typeface="Arial"/>
                <a:ea typeface="Arial"/>
                <a:cs typeface="Arial"/>
              </a:rPr>
              <a:t>Capture</a:t>
            </a:r>
          </a:p>
        </p:txBody>
      </p:sp>
      <p:sp>
        <p:nvSpPr>
          <p:cNvPr id="14" name="">
            <a:extLst xmlns:a="http://schemas.openxmlformats.org/drawingml/2006/main">
              <a:ext uri="{FF2B5EF4-FFF2-40B4-BE49-F238E27FC236}">
                <a16:creationId xmlns:a16="http://schemas.microsoft.com/office/drawing/2014/main" id="{72495FE6-9C1A-4445-B9A3-03753140BACB}"/>
              </a:ext>
            </a:extLst>
          </p:cNvPr>
          <p:cNvSpPr>
            <a:spLocks xmlns:a="http://schemas.openxmlformats.org/drawingml/2006/main" noGrp="1"/>
          </p:cNvSpPr>
          <p:nvPr/>
        </p:nvSpPr>
        <p:spPr>
          <a:xfrm xmlns:a="http://schemas.openxmlformats.org/drawingml/2006/main">
            <a:off x="3028950" y="31051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00A7B5"/>
                </a:solidFill>
                <a:latin typeface="Arial"/>
                <a:ea typeface="Arial"/>
                <a:cs typeface="Arial"/>
              </a:defRPr>
            </a:pPr>
            <a:r>
              <a:rPr sz="1275" b="1">
                <a:solidFill>
                  <a:srgbClr val="00A7B5"/>
                </a:solidFill>
                <a:latin typeface="Arial"/>
                <a:ea typeface="Arial"/>
                <a:cs typeface="Arial"/>
              </a:rPr>
              <a:t>camera_api.py</a:t>
            </a:r>
          </a:p>
        </p:txBody>
      </p:sp>
      <p:sp>
        <p:nvSpPr>
          <p:cNvPr id="15" name="">
            <a:extLst xmlns:a="http://schemas.openxmlformats.org/drawingml/2006/main">
              <a:ext uri="{FF2B5EF4-FFF2-40B4-BE49-F238E27FC236}">
                <a16:creationId xmlns:a16="http://schemas.microsoft.com/office/drawing/2014/main" id="{3139D3FA-A014-4A00-B36C-C7215BB2D34F}"/>
              </a:ext>
            </a:extLst>
          </p:cNvPr>
          <p:cNvSpPr>
            <a:spLocks xmlns:a="http://schemas.openxmlformats.org/drawingml/2006/main" noGrp="1"/>
          </p:cNvSpPr>
          <p:nvPr/>
        </p:nvSpPr>
        <p:spPr>
          <a:xfrm xmlns:a="http://schemas.openxmlformats.org/drawingml/2006/main">
            <a:off x="3028950" y="38290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Open camera</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read fresh frame</a:t>
            </a:r>
          </a:p>
        </p:txBody>
      </p:sp>
      <p:sp>
        <p:nvSpPr>
          <p:cNvPr id="16" name="perceive-node">
            <a:extLst xmlns:a="http://schemas.openxmlformats.org/drawingml/2006/main">
              <a:ext uri="{FF2B5EF4-FFF2-40B4-BE49-F238E27FC236}">
                <a16:creationId xmlns:a16="http://schemas.microsoft.com/office/drawing/2014/main" id="{A4646483-9417-46E5-844A-29305CF6D0A7}"/>
              </a:ext>
            </a:extLst>
          </p:cNvPr>
          <p:cNvSpPr>
            <a:spLocks xmlns:a="http://schemas.openxmlformats.org/drawingml/2006/main" noGrp="1"/>
          </p:cNvSpPr>
          <p:nvPr/>
        </p:nvSpPr>
        <p:spPr>
          <a:xfrm xmlns:a="http://schemas.openxmlformats.org/drawingml/2006/main">
            <a:off x="5276850" y="2381250"/>
            <a:ext cx="1809750" cy="2095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1430">
            <a:solidFill>
              <a:srgbClr val="43B02A"/>
            </a:solidFill>
            <a:prstDash val="solid"/>
          </a:ln>
        </p:spPr>
      </p:sp>
      <p:sp>
        <p:nvSpPr>
          <p:cNvPr id="17" name="">
            <a:extLst xmlns:a="http://schemas.openxmlformats.org/drawingml/2006/main">
              <a:ext uri="{FF2B5EF4-FFF2-40B4-BE49-F238E27FC236}">
                <a16:creationId xmlns:a16="http://schemas.microsoft.com/office/drawing/2014/main" id="{38BBFA5E-8738-4162-BE02-3F54A3EC02C8}"/>
              </a:ext>
            </a:extLst>
          </p:cNvPr>
          <p:cNvSpPr>
            <a:spLocks xmlns:a="http://schemas.openxmlformats.org/drawingml/2006/main" noGrp="1"/>
          </p:cNvSpPr>
          <p:nvPr/>
        </p:nvSpPr>
        <p:spPr>
          <a:xfrm xmlns:a="http://schemas.openxmlformats.org/drawingml/2006/main">
            <a:off x="5276850" y="2381250"/>
            <a:ext cx="1809750" cy="114300"/>
          </a:xfrm>
          <a:prstGeom xmlns:a="http://schemas.openxmlformats.org/drawingml/2006/main" prst="rect">
            <a:avLst/>
          </a:prstGeom>
          <a:solidFill xmlns:a="http://schemas.openxmlformats.org/drawingml/2006/main">
            <a:srgbClr val="43B02A"/>
          </a:solidFill>
          <a:ln xmlns:a="http://schemas.openxmlformats.org/drawingml/2006/main" w="11430">
            <a:solidFill>
              <a:srgbClr val="43B02A"/>
            </a:solidFill>
            <a:prstDash val="solid"/>
          </a:ln>
        </p:spPr>
      </p:sp>
      <p:sp>
        <p:nvSpPr>
          <p:cNvPr id="18" name="">
            <a:extLst xmlns:a="http://schemas.openxmlformats.org/drawingml/2006/main">
              <a:ext uri="{FF2B5EF4-FFF2-40B4-BE49-F238E27FC236}">
                <a16:creationId xmlns:a16="http://schemas.microsoft.com/office/drawing/2014/main" id="{64ABB510-CF88-41FC-B18D-CC28D60FD568}"/>
              </a:ext>
            </a:extLst>
          </p:cNvPr>
          <p:cNvSpPr>
            <a:spLocks xmlns:a="http://schemas.openxmlformats.org/drawingml/2006/main" noGrp="1"/>
          </p:cNvSpPr>
          <p:nvPr/>
        </p:nvSpPr>
        <p:spPr>
          <a:xfrm xmlns:a="http://schemas.openxmlformats.org/drawingml/2006/main">
            <a:off x="5448300" y="26860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101820"/>
                </a:solidFill>
                <a:latin typeface="Arial"/>
                <a:ea typeface="Arial"/>
                <a:cs typeface="Arial"/>
              </a:defRPr>
            </a:pPr>
            <a:r>
              <a:rPr sz="1875" b="1">
                <a:solidFill>
                  <a:srgbClr val="101820"/>
                </a:solidFill>
                <a:latin typeface="Arial"/>
                <a:ea typeface="Arial"/>
                <a:cs typeface="Arial"/>
              </a:rPr>
              <a:t>Perceive</a:t>
            </a:r>
          </a:p>
        </p:txBody>
      </p:sp>
      <p:sp>
        <p:nvSpPr>
          <p:cNvPr id="19" name="">
            <a:extLst xmlns:a="http://schemas.openxmlformats.org/drawingml/2006/main">
              <a:ext uri="{FF2B5EF4-FFF2-40B4-BE49-F238E27FC236}">
                <a16:creationId xmlns:a16="http://schemas.microsoft.com/office/drawing/2014/main" id="{28A94FC5-585D-40B5-B6D1-0F379F437AB0}"/>
              </a:ext>
            </a:extLst>
          </p:cNvPr>
          <p:cNvSpPr>
            <a:spLocks xmlns:a="http://schemas.openxmlformats.org/drawingml/2006/main" noGrp="1"/>
          </p:cNvSpPr>
          <p:nvPr/>
        </p:nvSpPr>
        <p:spPr>
          <a:xfrm xmlns:a="http://schemas.openxmlformats.org/drawingml/2006/main">
            <a:off x="5448300" y="31051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43B02A"/>
                </a:solidFill>
                <a:latin typeface="Arial"/>
                <a:ea typeface="Arial"/>
                <a:cs typeface="Arial"/>
              </a:defRPr>
            </a:pPr>
            <a:r>
              <a:rPr sz="1275" b="1">
                <a:solidFill>
                  <a:srgbClr val="43B02A"/>
                </a:solidFill>
                <a:latin typeface="Arial"/>
                <a:ea typeface="Arial"/>
                <a:cs typeface="Arial"/>
              </a:rPr>
              <a:t>detection_api.py</a:t>
            </a:r>
          </a:p>
        </p:txBody>
      </p:sp>
      <p:sp>
        <p:nvSpPr>
          <p:cNvPr id="20" name="">
            <a:extLst xmlns:a="http://schemas.openxmlformats.org/drawingml/2006/main">
              <a:ext uri="{FF2B5EF4-FFF2-40B4-BE49-F238E27FC236}">
                <a16:creationId xmlns:a16="http://schemas.microsoft.com/office/drawing/2014/main" id="{D23424EF-FE17-4754-B069-9709F2295352}"/>
              </a:ext>
            </a:extLst>
          </p:cNvPr>
          <p:cNvSpPr>
            <a:spLocks xmlns:a="http://schemas.openxmlformats.org/drawingml/2006/main" noGrp="1"/>
          </p:cNvSpPr>
          <p:nvPr/>
        </p:nvSpPr>
        <p:spPr>
          <a:xfrm xmlns:a="http://schemas.openxmlformats.org/drawingml/2006/main">
            <a:off x="5448300" y="38290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5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Background + motion</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YOLO recognition</a:t>
            </a:r>
          </a:p>
        </p:txBody>
      </p:sp>
      <p:sp>
        <p:nvSpPr>
          <p:cNvPr id="21" name="assess-node">
            <a:extLst xmlns:a="http://schemas.openxmlformats.org/drawingml/2006/main">
              <a:ext uri="{FF2B5EF4-FFF2-40B4-BE49-F238E27FC236}">
                <a16:creationId xmlns:a16="http://schemas.microsoft.com/office/drawing/2014/main" id="{4684838B-8A72-458B-98CC-61CCA9447B2F}"/>
              </a:ext>
            </a:extLst>
          </p:cNvPr>
          <p:cNvSpPr>
            <a:spLocks xmlns:a="http://schemas.openxmlformats.org/drawingml/2006/main" noGrp="1"/>
          </p:cNvSpPr>
          <p:nvPr/>
        </p:nvSpPr>
        <p:spPr>
          <a:xfrm xmlns:a="http://schemas.openxmlformats.org/drawingml/2006/main">
            <a:off x="7696200" y="2381250"/>
            <a:ext cx="1809750" cy="2095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1430">
            <a:solidFill>
              <a:srgbClr val="F5A623"/>
            </a:solidFill>
            <a:prstDash val="solid"/>
          </a:ln>
        </p:spPr>
      </p:sp>
      <p:sp>
        <p:nvSpPr>
          <p:cNvPr id="22" name="">
            <a:extLst xmlns:a="http://schemas.openxmlformats.org/drawingml/2006/main">
              <a:ext uri="{FF2B5EF4-FFF2-40B4-BE49-F238E27FC236}">
                <a16:creationId xmlns:a16="http://schemas.microsoft.com/office/drawing/2014/main" id="{1528D550-D779-48BC-8EF0-9595CA1AE7DB}"/>
              </a:ext>
            </a:extLst>
          </p:cNvPr>
          <p:cNvSpPr>
            <a:spLocks xmlns:a="http://schemas.openxmlformats.org/drawingml/2006/main" noGrp="1"/>
          </p:cNvSpPr>
          <p:nvPr/>
        </p:nvSpPr>
        <p:spPr>
          <a:xfrm xmlns:a="http://schemas.openxmlformats.org/drawingml/2006/main">
            <a:off x="7696200" y="2381250"/>
            <a:ext cx="1809750" cy="114300"/>
          </a:xfrm>
          <a:prstGeom xmlns:a="http://schemas.openxmlformats.org/drawingml/2006/main" prst="rect">
            <a:avLst/>
          </a:prstGeom>
          <a:solidFill xmlns:a="http://schemas.openxmlformats.org/drawingml/2006/main">
            <a:srgbClr val="F5A623"/>
          </a:solidFill>
          <a:ln xmlns:a="http://schemas.openxmlformats.org/drawingml/2006/main" w="11430">
            <a:solidFill>
              <a:srgbClr val="F5A623"/>
            </a:solidFill>
            <a:prstDash val="solid"/>
          </a:ln>
        </p:spPr>
      </p:sp>
      <p:sp>
        <p:nvSpPr>
          <p:cNvPr id="23" name="">
            <a:extLst xmlns:a="http://schemas.openxmlformats.org/drawingml/2006/main">
              <a:ext uri="{FF2B5EF4-FFF2-40B4-BE49-F238E27FC236}">
                <a16:creationId xmlns:a16="http://schemas.microsoft.com/office/drawing/2014/main" id="{0AB5E25F-83F0-4FE8-9DEB-0BDB777DFFA6}"/>
              </a:ext>
            </a:extLst>
          </p:cNvPr>
          <p:cNvSpPr>
            <a:spLocks xmlns:a="http://schemas.openxmlformats.org/drawingml/2006/main" noGrp="1"/>
          </p:cNvSpPr>
          <p:nvPr/>
        </p:nvSpPr>
        <p:spPr>
          <a:xfrm xmlns:a="http://schemas.openxmlformats.org/drawingml/2006/main">
            <a:off x="7867650" y="26860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101820"/>
                </a:solidFill>
                <a:latin typeface="Arial"/>
                <a:ea typeface="Arial"/>
                <a:cs typeface="Arial"/>
              </a:defRPr>
            </a:pPr>
            <a:r>
              <a:rPr sz="1875" b="1">
                <a:solidFill>
                  <a:srgbClr val="101820"/>
                </a:solidFill>
                <a:latin typeface="Arial"/>
                <a:ea typeface="Arial"/>
                <a:cs typeface="Arial"/>
              </a:rPr>
              <a:t>Assess</a:t>
            </a:r>
          </a:p>
        </p:txBody>
      </p:sp>
      <p:sp>
        <p:nvSpPr>
          <p:cNvPr id="24" name="">
            <a:extLst xmlns:a="http://schemas.openxmlformats.org/drawingml/2006/main">
              <a:ext uri="{FF2B5EF4-FFF2-40B4-BE49-F238E27FC236}">
                <a16:creationId xmlns:a16="http://schemas.microsoft.com/office/drawing/2014/main" id="{C07CF42E-11C3-4285-9D74-D9E1BFE971EC}"/>
              </a:ext>
            </a:extLst>
          </p:cNvPr>
          <p:cNvSpPr>
            <a:spLocks xmlns:a="http://schemas.openxmlformats.org/drawingml/2006/main" noGrp="1"/>
          </p:cNvSpPr>
          <p:nvPr/>
        </p:nvSpPr>
        <p:spPr>
          <a:xfrm xmlns:a="http://schemas.openxmlformats.org/drawingml/2006/main">
            <a:off x="7867650" y="31051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F5A623"/>
                </a:solidFill>
                <a:latin typeface="Arial"/>
                <a:ea typeface="Arial"/>
                <a:cs typeface="Arial"/>
              </a:defRPr>
            </a:pPr>
            <a:r>
              <a:rPr sz="1275" b="1">
                <a:solidFill>
                  <a:srgbClr val="F5A623"/>
                </a:solidFill>
                <a:latin typeface="Arial"/>
                <a:ea typeface="Arial"/>
                <a:cs typeface="Arial"/>
              </a:rPr>
              <a:t>guidance_api.py</a:t>
            </a:r>
          </a:p>
          <a:p xmlns:a="http://schemas.openxmlformats.org/drawingml/2006/main">
            <a:pPr algn="l">
              <a:defRPr sz="1275" b="1">
                <a:solidFill>
                  <a:srgbClr val="F5A623"/>
                </a:solidFill>
                <a:latin typeface="Arial"/>
                <a:ea typeface="Arial"/>
                <a:cs typeface="Arial"/>
              </a:defRPr>
            </a:pPr>
            <a:r>
              <a:rPr sz="1275" b="1">
                <a:solidFill>
                  <a:srgbClr val="F5A623"/>
                </a:solidFill>
                <a:latin typeface="Arial"/>
                <a:ea typeface="Arial"/>
                <a:cs typeface="Arial"/>
              </a:rPr>
              <a:t>risk_api.py</a:t>
            </a:r>
          </a:p>
        </p:txBody>
      </p:sp>
      <p:sp>
        <p:nvSpPr>
          <p:cNvPr id="25" name="">
            <a:extLst xmlns:a="http://schemas.openxmlformats.org/drawingml/2006/main">
              <a:ext uri="{FF2B5EF4-FFF2-40B4-BE49-F238E27FC236}">
                <a16:creationId xmlns:a16="http://schemas.microsoft.com/office/drawing/2014/main" id="{BE352BA7-7C8B-4D8C-8FB5-89E6311689FE}"/>
              </a:ext>
            </a:extLst>
          </p:cNvPr>
          <p:cNvSpPr>
            <a:spLocks xmlns:a="http://schemas.openxmlformats.org/drawingml/2006/main" noGrp="1"/>
          </p:cNvSpPr>
          <p:nvPr/>
        </p:nvSpPr>
        <p:spPr>
          <a:xfrm xmlns:a="http://schemas.openxmlformats.org/drawingml/2006/main">
            <a:off x="7867650" y="38290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32"/>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Direction · closeness</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approach grade</a:t>
            </a:r>
          </a:p>
        </p:txBody>
      </p:sp>
      <p:sp>
        <p:nvSpPr>
          <p:cNvPr id="26" name="caution-node">
            <a:extLst xmlns:a="http://schemas.openxmlformats.org/drawingml/2006/main">
              <a:ext uri="{FF2B5EF4-FFF2-40B4-BE49-F238E27FC236}">
                <a16:creationId xmlns:a16="http://schemas.microsoft.com/office/drawing/2014/main" id="{BD755F1F-0FA3-4992-A7B6-4044DD50D60A}"/>
              </a:ext>
            </a:extLst>
          </p:cNvPr>
          <p:cNvSpPr>
            <a:spLocks xmlns:a="http://schemas.openxmlformats.org/drawingml/2006/main" noGrp="1"/>
          </p:cNvSpPr>
          <p:nvPr/>
        </p:nvSpPr>
        <p:spPr>
          <a:xfrm xmlns:a="http://schemas.openxmlformats.org/drawingml/2006/main">
            <a:off x="10115550" y="2381250"/>
            <a:ext cx="1809750" cy="20955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1430">
            <a:solidFill>
              <a:srgbClr val="D64545"/>
            </a:solidFill>
            <a:prstDash val="solid"/>
          </a:ln>
        </p:spPr>
      </p:sp>
      <p:sp>
        <p:nvSpPr>
          <p:cNvPr id="27" name="">
            <a:extLst xmlns:a="http://schemas.openxmlformats.org/drawingml/2006/main">
              <a:ext uri="{FF2B5EF4-FFF2-40B4-BE49-F238E27FC236}">
                <a16:creationId xmlns:a16="http://schemas.microsoft.com/office/drawing/2014/main" id="{FC742CAA-0100-4948-9652-2F028B3A1098}"/>
              </a:ext>
            </a:extLst>
          </p:cNvPr>
          <p:cNvSpPr>
            <a:spLocks xmlns:a="http://schemas.openxmlformats.org/drawingml/2006/main" noGrp="1"/>
          </p:cNvSpPr>
          <p:nvPr/>
        </p:nvSpPr>
        <p:spPr>
          <a:xfrm xmlns:a="http://schemas.openxmlformats.org/drawingml/2006/main">
            <a:off x="10115550" y="2381250"/>
            <a:ext cx="1809750" cy="114300"/>
          </a:xfrm>
          <a:prstGeom xmlns:a="http://schemas.openxmlformats.org/drawingml/2006/main" prst="rect">
            <a:avLst/>
          </a:prstGeom>
          <a:solidFill xmlns:a="http://schemas.openxmlformats.org/drawingml/2006/main">
            <a:srgbClr val="D64545"/>
          </a:solidFill>
          <a:ln xmlns:a="http://schemas.openxmlformats.org/drawingml/2006/main" w="11430">
            <a:solidFill>
              <a:srgbClr val="D64545"/>
            </a:solidFill>
            <a:prstDash val="solid"/>
          </a:ln>
        </p:spPr>
      </p:sp>
      <p:sp>
        <p:nvSpPr>
          <p:cNvPr id="28" name="">
            <a:extLst xmlns:a="http://schemas.openxmlformats.org/drawingml/2006/main">
              <a:ext uri="{FF2B5EF4-FFF2-40B4-BE49-F238E27FC236}">
                <a16:creationId xmlns:a16="http://schemas.microsoft.com/office/drawing/2014/main" id="{67627C18-BFB4-498E-B2EC-4CDC82F8A719}"/>
              </a:ext>
            </a:extLst>
          </p:cNvPr>
          <p:cNvSpPr>
            <a:spLocks xmlns:a="http://schemas.openxmlformats.org/drawingml/2006/main" noGrp="1"/>
          </p:cNvSpPr>
          <p:nvPr/>
        </p:nvSpPr>
        <p:spPr>
          <a:xfrm xmlns:a="http://schemas.openxmlformats.org/drawingml/2006/main">
            <a:off x="10287000" y="26860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101820"/>
                </a:solidFill>
                <a:latin typeface="Arial"/>
                <a:ea typeface="Arial"/>
                <a:cs typeface="Arial"/>
              </a:defRPr>
            </a:pPr>
            <a:r>
              <a:rPr sz="1875" b="1">
                <a:solidFill>
                  <a:srgbClr val="101820"/>
                </a:solidFill>
                <a:latin typeface="Arial"/>
                <a:ea typeface="Arial"/>
                <a:cs typeface="Arial"/>
              </a:rPr>
              <a:t>Caution</a:t>
            </a:r>
          </a:p>
        </p:txBody>
      </p:sp>
      <p:sp>
        <p:nvSpPr>
          <p:cNvPr id="29" name="">
            <a:extLst xmlns:a="http://schemas.openxmlformats.org/drawingml/2006/main">
              <a:ext uri="{FF2B5EF4-FFF2-40B4-BE49-F238E27FC236}">
                <a16:creationId xmlns:a16="http://schemas.microsoft.com/office/drawing/2014/main" id="{AE3F0B2C-C4D9-4F57-B52A-07F558C42729}"/>
              </a:ext>
            </a:extLst>
          </p:cNvPr>
          <p:cNvSpPr>
            <a:spLocks xmlns:a="http://schemas.openxmlformats.org/drawingml/2006/main" noGrp="1"/>
          </p:cNvSpPr>
          <p:nvPr/>
        </p:nvSpPr>
        <p:spPr>
          <a:xfrm xmlns:a="http://schemas.openxmlformats.org/drawingml/2006/main">
            <a:off x="10287000" y="31051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D64545"/>
                </a:solidFill>
                <a:latin typeface="Arial"/>
                <a:ea typeface="Arial"/>
                <a:cs typeface="Arial"/>
              </a:defRPr>
            </a:pPr>
            <a:r>
              <a:rPr sz="1275" b="1">
                <a:solidFill>
                  <a:srgbClr val="D64545"/>
                </a:solidFill>
                <a:latin typeface="Arial"/>
                <a:ea typeface="Arial"/>
                <a:cs typeface="Arial"/>
              </a:rPr>
              <a:t>warning_api.py</a:t>
            </a:r>
          </a:p>
          <a:p xmlns:a="http://schemas.openxmlformats.org/drawingml/2006/main">
            <a:pPr algn="l">
              <a:defRPr sz="1275" b="1">
                <a:solidFill>
                  <a:srgbClr val="D64545"/>
                </a:solidFill>
                <a:latin typeface="Arial"/>
                <a:ea typeface="Arial"/>
                <a:cs typeface="Arial"/>
              </a:defRPr>
            </a:pPr>
            <a:r>
              <a:rPr sz="1275" b="1">
                <a:solidFill>
                  <a:srgbClr val="D64545"/>
                </a:solidFill>
                <a:latin typeface="Arial"/>
                <a:ea typeface="Arial"/>
                <a:cs typeface="Arial"/>
              </a:rPr>
              <a:t>output_api.py</a:t>
            </a:r>
          </a:p>
        </p:txBody>
      </p:sp>
      <p:sp>
        <p:nvSpPr>
          <p:cNvPr id="30" name="">
            <a:extLst xmlns:a="http://schemas.openxmlformats.org/drawingml/2006/main">
              <a:ext uri="{FF2B5EF4-FFF2-40B4-BE49-F238E27FC236}">
                <a16:creationId xmlns:a16="http://schemas.microsoft.com/office/drawing/2014/main" id="{FAEC6044-5747-4BEF-8772-4C1AA29981A9}"/>
              </a:ext>
            </a:extLst>
          </p:cNvPr>
          <p:cNvSpPr>
            <a:spLocks xmlns:a="http://schemas.openxmlformats.org/drawingml/2006/main" noGrp="1"/>
          </p:cNvSpPr>
          <p:nvPr/>
        </p:nvSpPr>
        <p:spPr>
          <a:xfrm xmlns:a="http://schemas.openxmlformats.org/drawingml/2006/main">
            <a:off x="10287000" y="38290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Stable message</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terminal + audio</a:t>
            </a:r>
          </a:p>
        </p:txBody>
      </p:sp>
      <p:sp>
        <p:nvSpPr>
          <p:cNvPr id="31" name="">
            <a:extLst xmlns:a="http://schemas.openxmlformats.org/drawingml/2006/main">
              <a:ext uri="{FF2B5EF4-FFF2-40B4-BE49-F238E27FC236}">
                <a16:creationId xmlns:a16="http://schemas.microsoft.com/office/drawing/2014/main" id="{F4C1F274-F60A-44EC-A6B5-306F16DD16EA}"/>
              </a:ext>
            </a:extLst>
          </p:cNvPr>
          <p:cNvSpPr>
            <a:spLocks xmlns:a="http://schemas.openxmlformats.org/drawingml/2006/main" noGrp="1"/>
          </p:cNvSpPr>
          <p:nvPr/>
        </p:nvSpPr>
        <p:spPr>
          <a:xfrm xmlns:a="http://schemas.openxmlformats.org/drawingml/2006/main">
            <a:off x="2857500" y="4933950"/>
            <a:ext cx="9067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runtime repeats this path for every frame until the user quits or the camera is lost.</a:t>
            </a:r>
          </a:p>
        </p:txBody>
      </p:sp>
      <p:sp>
        <p:nvSpPr>
          <p:cNvPr id="32" name="">
            <a:extLst xmlns:a="http://schemas.openxmlformats.org/drawingml/2006/main">
              <a:ext uri="{FF2B5EF4-FFF2-40B4-BE49-F238E27FC236}">
                <a16:creationId xmlns:a16="http://schemas.microsoft.com/office/drawing/2014/main" id="{7740FEC5-CAB5-4216-B77C-F0EF7AA66B87}"/>
              </a:ext>
            </a:extLst>
          </p:cNvPr>
          <p:cNvSpPr>
            <a:spLocks xmlns:a="http://schemas.openxmlformats.org/drawingml/2006/main" noGrp="1"/>
          </p:cNvSpPr>
          <p:nvPr/>
        </p:nvSpPr>
        <p:spPr>
          <a:xfrm xmlns:a="http://schemas.openxmlformats.org/drawingml/2006/main">
            <a:off x="2857500" y="5562600"/>
            <a:ext cx="906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0"/>
                </a:solidFill>
                <a:latin typeface="Arial"/>
                <a:ea typeface="Arial"/>
                <a:cs typeface="Arial"/>
              </a:defRPr>
            </a:pPr>
            <a:r>
              <a:rPr sz="1650" b="1">
                <a:solidFill>
                  <a:srgbClr val="101820"/>
                </a:solidFill>
                <a:latin typeface="Arial"/>
                <a:ea typeface="Arial"/>
                <a:cs typeface="Arial"/>
              </a:rPr>
              <a:t>Architecture principle: fast OpenCV signals decide danger; YOLO adds identity.</a:t>
            </a:r>
          </a:p>
        </p:txBody>
      </p:sp>
    </p:spTree>
    <p:extLst>
      <p:ext uri="{BB962C8B-B14F-4D97-AF65-F5344CB8AC3E}">
        <p14:creationId xmlns:p14="http://schemas.microsoft.com/office/powerpoint/2010/main" val="5022197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2-title">
            <a:extLst xmlns:a="http://schemas.openxmlformats.org/drawingml/2006/main">
              <a:ext uri="{FF2B5EF4-FFF2-40B4-BE49-F238E27FC236}">
                <a16:creationId xmlns:a16="http://schemas.microsoft.com/office/drawing/2014/main" id="{9E3C55F8-C38A-4968-BE54-1F553B25C99F}"/>
              </a:ext>
            </a:extLst>
          </p:cNvPr>
          <p:cNvSpPr>
            <a:spLocks xmlns:a="http://schemas.openxmlformats.org/drawingml/2006/main" noGrp="1"/>
          </p:cNvSpPr>
          <p:nvPr/>
        </p:nvSpPr>
        <p:spPr>
          <a:xfrm xmlns:a="http://schemas.openxmlformats.org/drawingml/2006/main">
            <a:off x="400050" y="32385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820"/>
                </a:solidFill>
                <a:latin typeface="Arial"/>
                <a:ea typeface="Arial"/>
                <a:cs typeface="Arial"/>
              </a:defRPr>
            </a:pPr>
            <a:r>
              <a:rPr sz="2925" b="1">
                <a:solidFill>
                  <a:srgbClr val="101820"/>
                </a:solidFill>
                <a:latin typeface="Arial"/>
                <a:ea typeface="Arial"/>
                <a:cs typeface="Arial"/>
              </a:rPr>
              <a:t>The camera minimizes latency and builds a stable baseline</a:t>
            </a:r>
          </a:p>
        </p:txBody>
      </p:sp>
      <p:sp>
        <p:nvSpPr>
          <p:cNvPr id="2" name="">
            <a:extLst xmlns:a="http://schemas.openxmlformats.org/drawingml/2006/main">
              <a:ext uri="{FF2B5EF4-FFF2-40B4-BE49-F238E27FC236}">
                <a16:creationId xmlns:a16="http://schemas.microsoft.com/office/drawing/2014/main" id="{BEEFE4B7-3643-42D8-AE36-1E92A5AC789F}"/>
              </a:ext>
            </a:extLst>
          </p:cNvPr>
          <p:cNvSpPr>
            <a:spLocks xmlns:a="http://schemas.openxmlformats.org/drawingml/2006/main" noGrp="1"/>
          </p:cNvSpPr>
          <p:nvPr/>
        </p:nvSpPr>
        <p:spPr>
          <a:xfrm xmlns:a="http://schemas.openxmlformats.org/drawingml/2006/main">
            <a:off x="112204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2606D"/>
                </a:solidFill>
                <a:latin typeface="Arial"/>
                <a:ea typeface="Arial"/>
                <a:cs typeface="Arial"/>
              </a:defRPr>
            </a:pPr>
            <a:r>
              <a:rPr sz="1050" b="0">
                <a:solidFill>
                  <a:srgbClr val="5260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56BF3D4-BEB0-4CB4-80B0-58FE70B549A1}"/>
              </a:ext>
            </a:extLst>
          </p:cNvPr>
          <p:cNvSpPr>
            <a:spLocks xmlns:a="http://schemas.openxmlformats.org/drawingml/2006/main" noGrp="1"/>
          </p:cNvSpPr>
          <p:nvPr/>
        </p:nvSpPr>
        <p:spPr>
          <a:xfrm xmlns:a="http://schemas.openxmlformats.org/drawingml/2006/main">
            <a:off x="419100" y="13525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00A7B5"/>
                </a:solidFill>
                <a:latin typeface="Arial"/>
                <a:ea typeface="Arial"/>
                <a:cs typeface="Arial"/>
              </a:defRPr>
            </a:pPr>
            <a:r>
              <a:rPr sz="1125" b="1">
                <a:solidFill>
                  <a:srgbClr val="00A7B5"/>
                </a:solidFill>
                <a:latin typeface="Arial"/>
                <a:ea typeface="Arial"/>
                <a:cs typeface="Arial"/>
              </a:rPr>
              <a:t>CAMERAAPI.START()</a:t>
            </a:r>
          </a:p>
        </p:txBody>
      </p:sp>
      <p:sp>
        <p:nvSpPr>
          <p:cNvPr id="4" name="">
            <a:extLst xmlns:a="http://schemas.openxmlformats.org/drawingml/2006/main">
              <a:ext uri="{FF2B5EF4-FFF2-40B4-BE49-F238E27FC236}">
                <a16:creationId xmlns:a16="http://schemas.microsoft.com/office/drawing/2014/main" id="{F8C122EC-AEDB-4AA5-A70F-44656BD5D257}"/>
              </a:ext>
            </a:extLst>
          </p:cNvPr>
          <p:cNvSpPr>
            <a:spLocks xmlns:a="http://schemas.openxmlformats.org/drawingml/2006/main" noGrp="1"/>
          </p:cNvSpPr>
          <p:nvPr/>
        </p:nvSpPr>
        <p:spPr>
          <a:xfrm xmlns:a="http://schemas.openxmlformats.org/drawingml/2006/main">
            <a:off x="419100" y="17526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00A7B5"/>
                </a:solidFill>
                <a:latin typeface="Arial"/>
                <a:ea typeface="Arial"/>
                <a:cs typeface="Arial"/>
              </a:defRPr>
            </a:pPr>
            <a:r>
              <a:rPr sz="1800" b="1">
                <a:solidFill>
                  <a:srgbClr val="00A7B5"/>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AC852A51-A4BA-4BCF-B783-0EF85331923D}"/>
              </a:ext>
            </a:extLst>
          </p:cNvPr>
          <p:cNvSpPr>
            <a:spLocks xmlns:a="http://schemas.openxmlformats.org/drawingml/2006/main" noGrp="1"/>
          </p:cNvSpPr>
          <p:nvPr/>
        </p:nvSpPr>
        <p:spPr>
          <a:xfrm xmlns:a="http://schemas.openxmlformats.org/drawingml/2006/main">
            <a:off x="838200" y="17335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101820"/>
                </a:solidFill>
                <a:latin typeface="Arial"/>
                <a:ea typeface="Arial"/>
                <a:cs typeface="Arial"/>
              </a:defRPr>
            </a:pPr>
            <a:r>
              <a:rPr sz="1725" b="1">
                <a:solidFill>
                  <a:srgbClr val="101820"/>
                </a:solidFill>
                <a:latin typeface="Arial"/>
                <a:ea typeface="Arial"/>
                <a:cs typeface="Arial"/>
              </a:rPr>
              <a:t>Open the fastest backend</a:t>
            </a:r>
          </a:p>
        </p:txBody>
      </p:sp>
      <p:sp>
        <p:nvSpPr>
          <p:cNvPr id="6" name="">
            <a:extLst xmlns:a="http://schemas.openxmlformats.org/drawingml/2006/main">
              <a:ext uri="{FF2B5EF4-FFF2-40B4-BE49-F238E27FC236}">
                <a16:creationId xmlns:a16="http://schemas.microsoft.com/office/drawing/2014/main" id="{38E2845B-21C8-44F5-A225-9BFF2F06EC3B}"/>
              </a:ext>
            </a:extLst>
          </p:cNvPr>
          <p:cNvSpPr>
            <a:spLocks xmlns:a="http://schemas.openxmlformats.org/drawingml/2006/main" noGrp="1"/>
          </p:cNvSpPr>
          <p:nvPr/>
        </p:nvSpPr>
        <p:spPr>
          <a:xfrm xmlns:a="http://schemas.openxmlformats.org/drawingml/2006/main">
            <a:off x="838200" y="207645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V4L2 on Raspberry Pi/Linux; DirectShow on Windows.</a:t>
            </a:r>
          </a:p>
        </p:txBody>
      </p:sp>
      <p:sp>
        <p:nvSpPr>
          <p:cNvPr id="7" name="">
            <a:extLst xmlns:a="http://schemas.openxmlformats.org/drawingml/2006/main">
              <a:ext uri="{FF2B5EF4-FFF2-40B4-BE49-F238E27FC236}">
                <a16:creationId xmlns:a16="http://schemas.microsoft.com/office/drawing/2014/main" id="{83213C7E-0B88-4858-A861-F0933D7AE71C}"/>
              </a:ext>
            </a:extLst>
          </p:cNvPr>
          <p:cNvSpPr>
            <a:spLocks xmlns:a="http://schemas.openxmlformats.org/drawingml/2006/main" noGrp="1"/>
          </p:cNvSpPr>
          <p:nvPr/>
        </p:nvSpPr>
        <p:spPr>
          <a:xfrm xmlns:a="http://schemas.openxmlformats.org/drawingml/2006/main">
            <a:off x="419100" y="26860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00A7B5"/>
                </a:solidFill>
                <a:latin typeface="Arial"/>
                <a:ea typeface="Arial"/>
                <a:cs typeface="Arial"/>
              </a:defRPr>
            </a:pPr>
            <a:r>
              <a:rPr sz="1800" b="1">
                <a:solidFill>
                  <a:srgbClr val="00A7B5"/>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E9FA6119-0ACE-4B64-B1AB-A50A96DED2F8}"/>
              </a:ext>
            </a:extLst>
          </p:cNvPr>
          <p:cNvSpPr>
            <a:spLocks xmlns:a="http://schemas.openxmlformats.org/drawingml/2006/main" noGrp="1"/>
          </p:cNvSpPr>
          <p:nvPr/>
        </p:nvSpPr>
        <p:spPr>
          <a:xfrm xmlns:a="http://schemas.openxmlformats.org/drawingml/2006/main">
            <a:off x="838200" y="26670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101820"/>
                </a:solidFill>
                <a:latin typeface="Arial"/>
                <a:ea typeface="Arial"/>
                <a:cs typeface="Arial"/>
              </a:defRPr>
            </a:pPr>
            <a:r>
              <a:rPr sz="1725" b="1">
                <a:solidFill>
                  <a:srgbClr val="101820"/>
                </a:solidFill>
                <a:latin typeface="Arial"/>
                <a:ea typeface="Arial"/>
                <a:cs typeface="Arial"/>
              </a:rPr>
              <a:t>Request a responsive stream</a:t>
            </a:r>
          </a:p>
        </p:txBody>
      </p:sp>
      <p:sp>
        <p:nvSpPr>
          <p:cNvPr id="9" name="">
            <a:extLst xmlns:a="http://schemas.openxmlformats.org/drawingml/2006/main">
              <a:ext uri="{FF2B5EF4-FFF2-40B4-BE49-F238E27FC236}">
                <a16:creationId xmlns:a16="http://schemas.microsoft.com/office/drawing/2014/main" id="{C74FE20D-1DA6-4304-BF7D-00DC25D51555}"/>
              </a:ext>
            </a:extLst>
          </p:cNvPr>
          <p:cNvSpPr>
            <a:spLocks xmlns:a="http://schemas.openxmlformats.org/drawingml/2006/main" noGrp="1"/>
          </p:cNvSpPr>
          <p:nvPr/>
        </p:nvSpPr>
        <p:spPr>
          <a:xfrm xmlns:a="http://schemas.openxmlformats.org/drawingml/2006/main">
            <a:off x="838200" y="300990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320 × 240, 30 FPS, one-frame buffer; resize if the camera returns another size.</a:t>
            </a:r>
          </a:p>
        </p:txBody>
      </p:sp>
      <p:sp>
        <p:nvSpPr>
          <p:cNvPr id="10" name="">
            <a:extLst xmlns:a="http://schemas.openxmlformats.org/drawingml/2006/main">
              <a:ext uri="{FF2B5EF4-FFF2-40B4-BE49-F238E27FC236}">
                <a16:creationId xmlns:a16="http://schemas.microsoft.com/office/drawing/2014/main" id="{5242AE76-107D-4287-A4CB-5A1092D33E7D}"/>
              </a:ext>
            </a:extLst>
          </p:cNvPr>
          <p:cNvSpPr>
            <a:spLocks xmlns:a="http://schemas.openxmlformats.org/drawingml/2006/main" noGrp="1"/>
          </p:cNvSpPr>
          <p:nvPr/>
        </p:nvSpPr>
        <p:spPr>
          <a:xfrm xmlns:a="http://schemas.openxmlformats.org/drawingml/2006/main">
            <a:off x="419100" y="37909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00A7B5"/>
                </a:solidFill>
                <a:latin typeface="Arial"/>
                <a:ea typeface="Arial"/>
                <a:cs typeface="Arial"/>
              </a:defRPr>
            </a:pPr>
            <a:r>
              <a:rPr sz="1800" b="1">
                <a:solidFill>
                  <a:srgbClr val="00A7B5"/>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BAC812A-3417-4619-B6CF-990F4C0AE48D}"/>
              </a:ext>
            </a:extLst>
          </p:cNvPr>
          <p:cNvSpPr>
            <a:spLocks xmlns:a="http://schemas.openxmlformats.org/drawingml/2006/main" noGrp="1"/>
          </p:cNvSpPr>
          <p:nvPr/>
        </p:nvSpPr>
        <p:spPr>
          <a:xfrm xmlns:a="http://schemas.openxmlformats.org/drawingml/2006/main">
            <a:off x="838200" y="37719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101820"/>
                </a:solidFill>
                <a:latin typeface="Arial"/>
                <a:ea typeface="Arial"/>
                <a:cs typeface="Arial"/>
              </a:defRPr>
            </a:pPr>
            <a:r>
              <a:rPr sz="1725" b="1">
                <a:solidFill>
                  <a:srgbClr val="101820"/>
                </a:solidFill>
                <a:latin typeface="Arial"/>
                <a:ea typeface="Arial"/>
                <a:cs typeface="Arial"/>
              </a:rPr>
              <a:t>Discard stale frames</a:t>
            </a:r>
          </a:p>
        </p:txBody>
      </p:sp>
      <p:sp>
        <p:nvSpPr>
          <p:cNvPr id="12" name="">
            <a:extLst xmlns:a="http://schemas.openxmlformats.org/drawingml/2006/main">
              <a:ext uri="{FF2B5EF4-FFF2-40B4-BE49-F238E27FC236}">
                <a16:creationId xmlns:a16="http://schemas.microsoft.com/office/drawing/2014/main" id="{D26156B2-8A9A-4C95-9FDA-BFDCB505CA9C}"/>
              </a:ext>
            </a:extLst>
          </p:cNvPr>
          <p:cNvSpPr>
            <a:spLocks xmlns:a="http://schemas.openxmlformats.org/drawingml/2006/main" noGrp="1"/>
          </p:cNvSpPr>
          <p:nvPr/>
        </p:nvSpPr>
        <p:spPr>
          <a:xfrm xmlns:a="http://schemas.openxmlformats.org/drawingml/2006/main">
            <a:off x="838200" y="411480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cap.grab() drops two buffered frames before reading the newest one; failed reads retry three times.</a:t>
            </a:r>
          </a:p>
        </p:txBody>
      </p:sp>
      <p:sp>
        <p:nvSpPr>
          <p:cNvPr id="13" name="">
            <a:extLst xmlns:a="http://schemas.openxmlformats.org/drawingml/2006/main">
              <a:ext uri="{FF2B5EF4-FFF2-40B4-BE49-F238E27FC236}">
                <a16:creationId xmlns:a16="http://schemas.microsoft.com/office/drawing/2014/main" id="{83167F08-8245-4F98-9695-91D212D44863}"/>
              </a:ext>
            </a:extLst>
          </p:cNvPr>
          <p:cNvSpPr>
            <a:spLocks xmlns:a="http://schemas.openxmlformats.org/drawingml/2006/main" noGrp="1"/>
          </p:cNvSpPr>
          <p:nvPr/>
        </p:nvSpPr>
        <p:spPr>
          <a:xfrm xmlns:a="http://schemas.openxmlformats.org/drawingml/2006/main">
            <a:off x="419100" y="49149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00A7B5"/>
                </a:solidFill>
                <a:latin typeface="Arial"/>
                <a:ea typeface="Arial"/>
                <a:cs typeface="Arial"/>
              </a:defRPr>
            </a:pPr>
            <a:r>
              <a:rPr sz="1800" b="1">
                <a:solidFill>
                  <a:srgbClr val="00A7B5"/>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E80FF873-699E-48C6-A87A-42004C25847E}"/>
              </a:ext>
            </a:extLst>
          </p:cNvPr>
          <p:cNvSpPr>
            <a:spLocks xmlns:a="http://schemas.openxmlformats.org/drawingml/2006/main" noGrp="1"/>
          </p:cNvSpPr>
          <p:nvPr/>
        </p:nvSpPr>
        <p:spPr>
          <a:xfrm xmlns:a="http://schemas.openxmlformats.org/drawingml/2006/main">
            <a:off x="838200" y="48958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101820"/>
                </a:solidFill>
                <a:latin typeface="Arial"/>
                <a:ea typeface="Arial"/>
                <a:cs typeface="Arial"/>
              </a:defRPr>
            </a:pPr>
            <a:r>
              <a:rPr sz="1725" b="1">
                <a:solidFill>
                  <a:srgbClr val="101820"/>
                </a:solidFill>
                <a:latin typeface="Arial"/>
                <a:ea typeface="Arial"/>
                <a:cs typeface="Arial"/>
              </a:rPr>
              <a:t>Capture the empty scene</a:t>
            </a:r>
          </a:p>
        </p:txBody>
      </p:sp>
      <p:sp>
        <p:nvSpPr>
          <p:cNvPr id="15" name="">
            <a:extLst xmlns:a="http://schemas.openxmlformats.org/drawingml/2006/main">
              <a:ext uri="{FF2B5EF4-FFF2-40B4-BE49-F238E27FC236}">
                <a16:creationId xmlns:a16="http://schemas.microsoft.com/office/drawing/2014/main" id="{D3A0898B-A64B-4D64-B2A2-66592177E9FF}"/>
              </a:ext>
            </a:extLst>
          </p:cNvPr>
          <p:cNvSpPr>
            <a:spLocks xmlns:a="http://schemas.openxmlformats.org/drawingml/2006/main" noGrp="1"/>
          </p:cNvSpPr>
          <p:nvPr/>
        </p:nvSpPr>
        <p:spPr>
          <a:xfrm xmlns:a="http://schemas.openxmlformats.org/drawingml/2006/main">
            <a:off x="838200" y="523875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After a 1-second settle, the median of 12 frames becomes the background reference.</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51ef27d905e41b5"/>
          <a:srcRect xmlns:a="http://schemas.openxmlformats.org/drawingml/2006/main" l="3401" t="0" r="3401" b="0"/>
          <a:stretch xmlns:a="http://schemas.openxmlformats.org/drawingml/2006/main">
            <a:fillRect l="0" t="0" r="0" b="0"/>
          </a:stretch>
        </p:blipFill>
        <p:spPr>
          <a:xfrm xmlns:a="http://schemas.openxmlformats.org/drawingml/2006/main">
            <a:off x="6019800" y="1428750"/>
            <a:ext cx="5715000" cy="4057650"/>
          </a:xfrm>
          <a:prstGeom xmlns:a="http://schemas.openxmlformats.org/drawingml/2006/main" prst="roundRect">
            <a:avLst>
              <a:gd name="adj" fmla="val 2817"/>
            </a:avLst>
          </a:prstGeom>
        </p:spPr>
      </p:pic>
      <p:sp>
        <p:nvSpPr>
          <p:cNvPr id="17" name="">
            <a:extLst xmlns:a="http://schemas.openxmlformats.org/drawingml/2006/main">
              <a:ext uri="{FF2B5EF4-FFF2-40B4-BE49-F238E27FC236}">
                <a16:creationId xmlns:a16="http://schemas.microsoft.com/office/drawing/2014/main" id="{FDC268A2-C035-455A-8C62-9C13D58B9B73}"/>
              </a:ext>
            </a:extLst>
          </p:cNvPr>
          <p:cNvSpPr>
            <a:spLocks xmlns:a="http://schemas.openxmlformats.org/drawingml/2006/main" noGrp="1"/>
          </p:cNvSpPr>
          <p:nvPr/>
        </p:nvSpPr>
        <p:spPr>
          <a:xfrm xmlns:a="http://schemas.openxmlformats.org/drawingml/2006/main">
            <a:off x="6019800" y="565785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Real test frame: object center → direction; box size → closeness; warning appears in the overlay and terminal.</a:t>
            </a:r>
          </a:p>
        </p:txBody>
      </p:sp>
    </p:spTree>
    <p:extLst>
      <p:ext uri="{BB962C8B-B14F-4D97-AF65-F5344CB8AC3E}">
        <p14:creationId xmlns:p14="http://schemas.microsoft.com/office/powerpoint/2010/main" val="2855008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3-title">
            <a:extLst xmlns:a="http://schemas.openxmlformats.org/drawingml/2006/main">
              <a:ext uri="{FF2B5EF4-FFF2-40B4-BE49-F238E27FC236}">
                <a16:creationId xmlns:a16="http://schemas.microsoft.com/office/drawing/2014/main" id="{7ED00B16-6205-424D-BD17-1ADFC36D8449}"/>
              </a:ext>
            </a:extLst>
          </p:cNvPr>
          <p:cNvSpPr>
            <a:spLocks xmlns:a="http://schemas.openxmlformats.org/drawingml/2006/main" noGrp="1"/>
          </p:cNvSpPr>
          <p:nvPr/>
        </p:nvSpPr>
        <p:spPr>
          <a:xfrm xmlns:a="http://schemas.openxmlformats.org/drawingml/2006/main">
            <a:off x="400050" y="32385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820"/>
                </a:solidFill>
                <a:latin typeface="Arial"/>
                <a:ea typeface="Arial"/>
                <a:cs typeface="Arial"/>
              </a:defRPr>
            </a:pPr>
            <a:r>
              <a:rPr sz="2925" b="1">
                <a:solidFill>
                  <a:srgbClr val="101820"/>
                </a:solidFill>
                <a:latin typeface="Arial"/>
                <a:ea typeface="Arial"/>
                <a:cs typeface="Arial"/>
              </a:rPr>
              <a:t>Danger comes from change, size, position, and approach</a:t>
            </a:r>
          </a:p>
        </p:txBody>
      </p:sp>
      <p:sp>
        <p:nvSpPr>
          <p:cNvPr id="2" name="">
            <a:extLst xmlns:a="http://schemas.openxmlformats.org/drawingml/2006/main">
              <a:ext uri="{FF2B5EF4-FFF2-40B4-BE49-F238E27FC236}">
                <a16:creationId xmlns:a16="http://schemas.microsoft.com/office/drawing/2014/main" id="{855A2035-D874-41A7-B6C3-161883ED1252}"/>
              </a:ext>
            </a:extLst>
          </p:cNvPr>
          <p:cNvSpPr>
            <a:spLocks xmlns:a="http://schemas.openxmlformats.org/drawingml/2006/main" noGrp="1"/>
          </p:cNvSpPr>
          <p:nvPr/>
        </p:nvSpPr>
        <p:spPr>
          <a:xfrm xmlns:a="http://schemas.openxmlformats.org/drawingml/2006/main">
            <a:off x="112204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2606D"/>
                </a:solidFill>
                <a:latin typeface="Arial"/>
                <a:ea typeface="Arial"/>
                <a:cs typeface="Arial"/>
              </a:defRPr>
            </a:pPr>
            <a:r>
              <a:rPr sz="1050" b="0">
                <a:solidFill>
                  <a:srgbClr val="5260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2D07AEB-8228-4FB9-B62A-F7A2878AC031}"/>
              </a:ext>
            </a:extLst>
          </p:cNvPr>
          <p:cNvSpPr>
            <a:spLocks xmlns:a="http://schemas.openxmlformats.org/drawingml/2006/main" noGrp="1"/>
          </p:cNvSpPr>
          <p:nvPr/>
        </p:nvSpPr>
        <p:spPr>
          <a:xfrm xmlns:a="http://schemas.openxmlformats.org/drawingml/2006/main">
            <a:off x="419100" y="1562100"/>
            <a:ext cx="34290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1430">
            <a:solidFill>
              <a:srgbClr val="00A7B5"/>
            </a:solidFill>
            <a:prstDash val="solid"/>
          </a:ln>
        </p:spPr>
      </p:sp>
      <p:sp>
        <p:nvSpPr>
          <p:cNvPr id="4" name="">
            <a:extLst xmlns:a="http://schemas.openxmlformats.org/drawingml/2006/main">
              <a:ext uri="{FF2B5EF4-FFF2-40B4-BE49-F238E27FC236}">
                <a16:creationId xmlns:a16="http://schemas.microsoft.com/office/drawing/2014/main" id="{B8F33B03-F9BE-4AEA-B566-E833363AF8B1}"/>
              </a:ext>
            </a:extLst>
          </p:cNvPr>
          <p:cNvSpPr>
            <a:spLocks xmlns:a="http://schemas.openxmlformats.org/drawingml/2006/main" noGrp="1"/>
          </p:cNvSpPr>
          <p:nvPr/>
        </p:nvSpPr>
        <p:spPr>
          <a:xfrm xmlns:a="http://schemas.openxmlformats.org/drawingml/2006/main">
            <a:off x="609600" y="17526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00A7B5"/>
                </a:solidFill>
                <a:latin typeface="Arial"/>
                <a:ea typeface="Arial"/>
                <a:cs typeface="Arial"/>
              </a:defRPr>
            </a:pPr>
            <a:r>
              <a:rPr sz="1125" b="1">
                <a:solidFill>
                  <a:srgbClr val="00A7B5"/>
                </a:solidFill>
                <a:latin typeface="Arial"/>
                <a:ea typeface="Arial"/>
                <a:cs typeface="Arial"/>
              </a:rPr>
              <a:t>BACKGROUND</a:t>
            </a:r>
          </a:p>
        </p:txBody>
      </p:sp>
      <p:sp>
        <p:nvSpPr>
          <p:cNvPr id="5" name="">
            <a:extLst xmlns:a="http://schemas.openxmlformats.org/drawingml/2006/main">
              <a:ext uri="{FF2B5EF4-FFF2-40B4-BE49-F238E27FC236}">
                <a16:creationId xmlns:a16="http://schemas.microsoft.com/office/drawing/2014/main" id="{E076726A-484C-45FB-80E4-A590BD7318BF}"/>
              </a:ext>
            </a:extLst>
          </p:cNvPr>
          <p:cNvSpPr>
            <a:spLocks xmlns:a="http://schemas.openxmlformats.org/drawingml/2006/main" noGrp="1"/>
          </p:cNvSpPr>
          <p:nvPr/>
        </p:nvSpPr>
        <p:spPr>
          <a:xfrm xmlns:a="http://schemas.openxmlformats.org/drawingml/2006/main">
            <a:off x="609600" y="21336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What entered the scene?</a:t>
            </a:r>
          </a:p>
        </p:txBody>
      </p:sp>
      <p:sp>
        <p:nvSpPr>
          <p:cNvPr id="6" name="">
            <a:extLst xmlns:a="http://schemas.openxmlformats.org/drawingml/2006/main">
              <a:ext uri="{FF2B5EF4-FFF2-40B4-BE49-F238E27FC236}">
                <a16:creationId xmlns:a16="http://schemas.microsoft.com/office/drawing/2014/main" id="{9062AC26-9C31-4E12-9AD8-019EEE845BE9}"/>
              </a:ext>
            </a:extLst>
          </p:cNvPr>
          <p:cNvSpPr>
            <a:spLocks xmlns:a="http://schemas.openxmlformats.org/drawingml/2006/main" noGrp="1"/>
          </p:cNvSpPr>
          <p:nvPr/>
        </p:nvSpPr>
        <p:spPr>
          <a:xfrm xmlns:a="http://schemas.openxmlformats.org/drawingml/2006/main">
            <a:off x="609600" y="2781300"/>
            <a:ext cx="3048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681"/>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Absolute difference from the saved empty view</a:t>
            </a:r>
          </a:p>
          <a:p xmlns:a="http://schemas.openxmlformats.org/drawingml/2006/main">
            <a:r>
              <a:t/>
            </a:r>
          </a:p>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Blur → threshold 14 → clean mask → contours ≥ 550 px</a:t>
            </a:r>
          </a:p>
          <a:p xmlns:a="http://schemas.openxmlformats.org/drawingml/2006/main">
            <a:r>
              <a:t/>
            </a:r>
          </a:p>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Runs every 2 frames; must persist for 2 processed cycles</a:t>
            </a:r>
          </a:p>
        </p:txBody>
      </p:sp>
      <p:sp>
        <p:nvSpPr>
          <p:cNvPr id="7" name="">
            <a:extLst xmlns:a="http://schemas.openxmlformats.org/drawingml/2006/main">
              <a:ext uri="{FF2B5EF4-FFF2-40B4-BE49-F238E27FC236}">
                <a16:creationId xmlns:a16="http://schemas.microsoft.com/office/drawing/2014/main" id="{DD68083C-7BC4-401D-8CEF-90A429847DEB}"/>
              </a:ext>
            </a:extLst>
          </p:cNvPr>
          <p:cNvSpPr>
            <a:spLocks xmlns:a="http://schemas.openxmlformats.org/drawingml/2006/main" noGrp="1"/>
          </p:cNvSpPr>
          <p:nvPr/>
        </p:nvSpPr>
        <p:spPr>
          <a:xfrm xmlns:a="http://schemas.openxmlformats.org/drawingml/2006/main">
            <a:off x="4276725" y="1562100"/>
            <a:ext cx="34290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1430">
            <a:solidFill>
              <a:srgbClr val="43B02A"/>
            </a:solidFill>
            <a:prstDash val="solid"/>
          </a:ln>
        </p:spPr>
      </p:sp>
      <p:sp>
        <p:nvSpPr>
          <p:cNvPr id="8" name="">
            <a:extLst xmlns:a="http://schemas.openxmlformats.org/drawingml/2006/main">
              <a:ext uri="{FF2B5EF4-FFF2-40B4-BE49-F238E27FC236}">
                <a16:creationId xmlns:a16="http://schemas.microsoft.com/office/drawing/2014/main" id="{96CD14E6-1F89-4C08-AEB9-AA93B3327B50}"/>
              </a:ext>
            </a:extLst>
          </p:cNvPr>
          <p:cNvSpPr>
            <a:spLocks xmlns:a="http://schemas.openxmlformats.org/drawingml/2006/main" noGrp="1"/>
          </p:cNvSpPr>
          <p:nvPr/>
        </p:nvSpPr>
        <p:spPr>
          <a:xfrm xmlns:a="http://schemas.openxmlformats.org/drawingml/2006/main">
            <a:off x="4467225" y="17526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43B02A"/>
                </a:solidFill>
                <a:latin typeface="Arial"/>
                <a:ea typeface="Arial"/>
                <a:cs typeface="Arial"/>
              </a:defRPr>
            </a:pPr>
            <a:r>
              <a:rPr sz="1125" b="1">
                <a:solidFill>
                  <a:srgbClr val="43B02A"/>
                </a:solidFill>
                <a:latin typeface="Arial"/>
                <a:ea typeface="Arial"/>
                <a:cs typeface="Arial"/>
              </a:rPr>
              <a:t>MOTION</a:t>
            </a:r>
          </a:p>
        </p:txBody>
      </p:sp>
      <p:sp>
        <p:nvSpPr>
          <p:cNvPr id="9" name="">
            <a:extLst xmlns:a="http://schemas.openxmlformats.org/drawingml/2006/main">
              <a:ext uri="{FF2B5EF4-FFF2-40B4-BE49-F238E27FC236}">
                <a16:creationId xmlns:a16="http://schemas.microsoft.com/office/drawing/2014/main" id="{DC64574D-B9A3-47F3-BF32-05CA3228B183}"/>
              </a:ext>
            </a:extLst>
          </p:cNvPr>
          <p:cNvSpPr>
            <a:spLocks xmlns:a="http://schemas.openxmlformats.org/drawingml/2006/main" noGrp="1"/>
          </p:cNvSpPr>
          <p:nvPr/>
        </p:nvSpPr>
        <p:spPr>
          <a:xfrm xmlns:a="http://schemas.openxmlformats.org/drawingml/2006/main">
            <a:off x="4467225" y="21336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What is moving now?</a:t>
            </a:r>
          </a:p>
        </p:txBody>
      </p:sp>
      <p:sp>
        <p:nvSpPr>
          <p:cNvPr id="10" name="">
            <a:extLst xmlns:a="http://schemas.openxmlformats.org/drawingml/2006/main">
              <a:ext uri="{FF2B5EF4-FFF2-40B4-BE49-F238E27FC236}">
                <a16:creationId xmlns:a16="http://schemas.microsoft.com/office/drawing/2014/main" id="{8CBCCD49-1746-4E7C-9EEA-7D84CF36D7C9}"/>
              </a:ext>
            </a:extLst>
          </p:cNvPr>
          <p:cNvSpPr>
            <a:spLocks xmlns:a="http://schemas.openxmlformats.org/drawingml/2006/main" noGrp="1"/>
          </p:cNvSpPr>
          <p:nvPr/>
        </p:nvSpPr>
        <p:spPr>
          <a:xfrm xmlns:a="http://schemas.openxmlformats.org/drawingml/2006/main">
            <a:off x="4467225" y="2781300"/>
            <a:ext cx="3048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53"/>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Difference between consecutive frames</a:t>
            </a:r>
          </a:p>
          <a:p xmlns:a="http://schemas.openxmlformats.org/drawingml/2006/main">
            <a:r>
              <a:t/>
            </a:r>
          </a:p>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Threshold 18 → contours ≥ 450 px</a:t>
            </a:r>
          </a:p>
          <a:p xmlns:a="http://schemas.openxmlformats.org/drawingml/2006/main">
            <a:r>
              <a:t/>
            </a:r>
          </a:p>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Runs every frame and prioritizes actively moving candidates</a:t>
            </a:r>
          </a:p>
        </p:txBody>
      </p:sp>
      <p:sp>
        <p:nvSpPr>
          <p:cNvPr id="11" name="">
            <a:extLst xmlns:a="http://schemas.openxmlformats.org/drawingml/2006/main">
              <a:ext uri="{FF2B5EF4-FFF2-40B4-BE49-F238E27FC236}">
                <a16:creationId xmlns:a16="http://schemas.microsoft.com/office/drawing/2014/main" id="{4993E928-E6BF-43B2-8AA7-CBF9B03C12CC}"/>
              </a:ext>
            </a:extLst>
          </p:cNvPr>
          <p:cNvSpPr>
            <a:spLocks xmlns:a="http://schemas.openxmlformats.org/drawingml/2006/main" noGrp="1"/>
          </p:cNvSpPr>
          <p:nvPr/>
        </p:nvSpPr>
        <p:spPr>
          <a:xfrm xmlns:a="http://schemas.openxmlformats.org/drawingml/2006/main">
            <a:off x="8134350" y="1562100"/>
            <a:ext cx="34290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1430">
            <a:solidFill>
              <a:srgbClr val="7A5AF8"/>
            </a:solidFill>
            <a:prstDash val="solid"/>
          </a:ln>
        </p:spPr>
      </p:sp>
      <p:sp>
        <p:nvSpPr>
          <p:cNvPr id="12" name="">
            <a:extLst xmlns:a="http://schemas.openxmlformats.org/drawingml/2006/main">
              <a:ext uri="{FF2B5EF4-FFF2-40B4-BE49-F238E27FC236}">
                <a16:creationId xmlns:a16="http://schemas.microsoft.com/office/drawing/2014/main" id="{091D2516-6660-4E43-8937-E19522C498A3}"/>
              </a:ext>
            </a:extLst>
          </p:cNvPr>
          <p:cNvSpPr>
            <a:spLocks xmlns:a="http://schemas.openxmlformats.org/drawingml/2006/main" noGrp="1"/>
          </p:cNvSpPr>
          <p:nvPr/>
        </p:nvSpPr>
        <p:spPr>
          <a:xfrm xmlns:a="http://schemas.openxmlformats.org/drawingml/2006/main">
            <a:off x="8324850" y="17526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7A5AF8"/>
                </a:solidFill>
                <a:latin typeface="Arial"/>
                <a:ea typeface="Arial"/>
                <a:cs typeface="Arial"/>
              </a:defRPr>
            </a:pPr>
            <a:r>
              <a:rPr sz="1125" b="1">
                <a:solidFill>
                  <a:srgbClr val="7A5AF8"/>
                </a:solidFill>
                <a:latin typeface="Arial"/>
                <a:ea typeface="Arial"/>
                <a:cs typeface="Arial"/>
              </a:rPr>
              <a:t>YOLO</a:t>
            </a:r>
          </a:p>
        </p:txBody>
      </p:sp>
      <p:sp>
        <p:nvSpPr>
          <p:cNvPr id="13" name="">
            <a:extLst xmlns:a="http://schemas.openxmlformats.org/drawingml/2006/main">
              <a:ext uri="{FF2B5EF4-FFF2-40B4-BE49-F238E27FC236}">
                <a16:creationId xmlns:a16="http://schemas.microsoft.com/office/drawing/2014/main" id="{3F4F8D2F-08FA-45F8-A7FE-BAE329D7C16B}"/>
              </a:ext>
            </a:extLst>
          </p:cNvPr>
          <p:cNvSpPr>
            <a:spLocks xmlns:a="http://schemas.openxmlformats.org/drawingml/2006/main" noGrp="1"/>
          </p:cNvSpPr>
          <p:nvPr/>
        </p:nvSpPr>
        <p:spPr>
          <a:xfrm xmlns:a="http://schemas.openxmlformats.org/drawingml/2006/main">
            <a:off x="8324850" y="21336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What is the object?</a:t>
            </a:r>
          </a:p>
        </p:txBody>
      </p:sp>
      <p:sp>
        <p:nvSpPr>
          <p:cNvPr id="14" name="">
            <a:extLst xmlns:a="http://schemas.openxmlformats.org/drawingml/2006/main">
              <a:ext uri="{FF2B5EF4-FFF2-40B4-BE49-F238E27FC236}">
                <a16:creationId xmlns:a16="http://schemas.microsoft.com/office/drawing/2014/main" id="{9791536C-77E2-4E2E-8260-038A91D5B337}"/>
              </a:ext>
            </a:extLst>
          </p:cNvPr>
          <p:cNvSpPr>
            <a:spLocks xmlns:a="http://schemas.openxmlformats.org/drawingml/2006/main" noGrp="1"/>
          </p:cNvSpPr>
          <p:nvPr/>
        </p:nvSpPr>
        <p:spPr>
          <a:xfrm xmlns:a="http://schemas.openxmlformats.org/drawingml/2006/main">
            <a:off x="8324850" y="2781300"/>
            <a:ext cx="3048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7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Runs every 10 frames at 320 px</a:t>
            </a:r>
          </a:p>
          <a:p xmlns:a="http://schemas.openxmlformats.org/drawingml/2006/main">
            <a:r>
              <a:t/>
            </a:r>
          </a:p>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Recognizes person, chair, car, bicycle</a:t>
            </a:r>
          </a:p>
          <a:p xmlns:a="http://schemas.openxmlformats.org/drawingml/2006/main">
            <a:r>
              <a:t/>
            </a:r>
          </a:p>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By default it labels a matched candidate; it does not trigger a warning alone</a:t>
            </a:r>
          </a:p>
        </p:txBody>
      </p:sp>
      <p:cxnSp>
        <p:nvCxnSpPr>
          <p:cNvPr id="40" name=""/>
          <p:cNvCxnSpPr/>
          <p:nvPr/>
        </p:nvCxnSpPr>
        <p:spPr>
          <a:xfrm xmlns:a="http://schemas.openxmlformats.org/drawingml/2006/main">
            <a:off x="2133600" y="4514850"/>
            <a:ext cx="0" cy="333375"/>
          </a:xfrm>
          <a:prstGeom xmlns:a="http://schemas.openxmlformats.org/drawingml/2006/main" prst="straightConnector1">
            <a:avLst/>
          </a:prstGeom>
          <a:ln xmlns:a="http://schemas.openxmlformats.org/drawingml/2006/main" w="19050">
            <a:solidFill>
              <a:srgbClr val="B8C2CC"/>
            </a:solidFill>
            <a:prstDash val="solid"/>
          </a:ln>
        </p:spPr>
      </p:cxnSp>
      <p:cxnSp>
        <p:nvCxnSpPr>
          <p:cNvPr id="41" name=""/>
          <p:cNvCxnSpPr/>
          <p:nvPr/>
        </p:nvCxnSpPr>
        <p:spPr>
          <a:xfrm xmlns:a="http://schemas.openxmlformats.org/drawingml/2006/main">
            <a:off x="5991225" y="4514850"/>
            <a:ext cx="0" cy="333375"/>
          </a:xfrm>
          <a:prstGeom xmlns:a="http://schemas.openxmlformats.org/drawingml/2006/main" prst="straightConnector1">
            <a:avLst/>
          </a:prstGeom>
          <a:ln xmlns:a="http://schemas.openxmlformats.org/drawingml/2006/main" w="19050">
            <a:solidFill>
              <a:srgbClr val="B8C2CC"/>
            </a:solidFill>
            <a:prstDash val="solid"/>
          </a:ln>
        </p:spPr>
      </p:cxnSp>
      <p:cxnSp>
        <p:nvCxnSpPr>
          <p:cNvPr id="42" name=""/>
          <p:cNvCxnSpPr/>
          <p:nvPr/>
        </p:nvCxnSpPr>
        <p:spPr>
          <a:xfrm xmlns:a="http://schemas.openxmlformats.org/drawingml/2006/main">
            <a:off x="9848850" y="4514850"/>
            <a:ext cx="0" cy="333375"/>
          </a:xfrm>
          <a:prstGeom xmlns:a="http://schemas.openxmlformats.org/drawingml/2006/main" prst="straightConnector1">
            <a:avLst/>
          </a:prstGeom>
          <a:ln xmlns:a="http://schemas.openxmlformats.org/drawingml/2006/main" w="19050">
            <a:solidFill>
              <a:srgbClr val="B8C2CC"/>
            </a:solidFill>
            <a:prstDash val="solid"/>
          </a:ln>
        </p:spPr>
      </p:cxnSp>
      <p:sp>
        <p:nvSpPr>
          <p:cNvPr id="18" name="danger-decision-band">
            <a:extLst xmlns:a="http://schemas.openxmlformats.org/drawingml/2006/main">
              <a:ext uri="{FF2B5EF4-FFF2-40B4-BE49-F238E27FC236}">
                <a16:creationId xmlns:a16="http://schemas.microsoft.com/office/drawing/2014/main" id="{8A882B5D-0E9F-4D31-ADFF-1CC5B9F3A5B8}"/>
              </a:ext>
            </a:extLst>
          </p:cNvPr>
          <p:cNvSpPr>
            <a:spLocks xmlns:a="http://schemas.openxmlformats.org/drawingml/2006/main" noGrp="1"/>
          </p:cNvSpPr>
          <p:nvPr/>
        </p:nvSpPr>
        <p:spPr>
          <a:xfrm xmlns:a="http://schemas.openxmlformats.org/drawingml/2006/main">
            <a:off x="419100" y="4876800"/>
            <a:ext cx="11144250" cy="1104900"/>
          </a:xfrm>
          <a:prstGeom xmlns:a="http://schemas.openxmlformats.org/drawingml/2006/main" prst="roundRect">
            <a:avLst>
              <a:gd name="adj" fmla="val 10345"/>
            </a:avLst>
          </a:prstGeom>
          <a:solidFill xmlns:a="http://schemas.openxmlformats.org/drawingml/2006/main">
            <a:srgbClr val="F3F6F8"/>
          </a:solidFill>
          <a:ln xmlns:a="http://schemas.openxmlformats.org/drawingml/2006/main" w="11430">
            <a:solidFill>
              <a:srgbClr val="B8C2CC"/>
            </a:solidFill>
            <a:prstDash val="solid"/>
          </a:ln>
        </p:spPr>
      </p:sp>
      <p:sp>
        <p:nvSpPr>
          <p:cNvPr id="19" name="">
            <a:extLst xmlns:a="http://schemas.openxmlformats.org/drawingml/2006/main">
              <a:ext uri="{FF2B5EF4-FFF2-40B4-BE49-F238E27FC236}">
                <a16:creationId xmlns:a16="http://schemas.microsoft.com/office/drawing/2014/main" id="{94A526F4-7AEC-481B-935F-3CD514651938}"/>
              </a:ext>
            </a:extLst>
          </p:cNvPr>
          <p:cNvSpPr>
            <a:spLocks xmlns:a="http://schemas.openxmlformats.org/drawingml/2006/main" noGrp="1"/>
          </p:cNvSpPr>
          <p:nvPr/>
        </p:nvSpPr>
        <p:spPr>
          <a:xfrm xmlns:a="http://schemas.openxmlformats.org/drawingml/2006/main">
            <a:off x="647700" y="50863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D64545"/>
                </a:solidFill>
                <a:latin typeface="Arial"/>
                <a:ea typeface="Arial"/>
                <a:cs typeface="Arial"/>
              </a:defRPr>
            </a:pPr>
            <a:r>
              <a:rPr sz="1125" b="1">
                <a:solidFill>
                  <a:srgbClr val="D64545"/>
                </a:solidFill>
                <a:latin typeface="Arial"/>
                <a:ea typeface="Arial"/>
                <a:cs typeface="Arial"/>
              </a:rPr>
              <a:t>SELECT</a:t>
            </a:r>
          </a:p>
        </p:txBody>
      </p:sp>
      <p:sp>
        <p:nvSpPr>
          <p:cNvPr id="20" name="">
            <a:extLst xmlns:a="http://schemas.openxmlformats.org/drawingml/2006/main">
              <a:ext uri="{FF2B5EF4-FFF2-40B4-BE49-F238E27FC236}">
                <a16:creationId xmlns:a16="http://schemas.microsoft.com/office/drawing/2014/main" id="{EF031147-13DB-48FB-B346-CAC2410E869D}"/>
              </a:ext>
            </a:extLst>
          </p:cNvPr>
          <p:cNvSpPr>
            <a:spLocks xmlns:a="http://schemas.openxmlformats.org/drawingml/2006/main" noGrp="1"/>
          </p:cNvSpPr>
          <p:nvPr/>
        </p:nvSpPr>
        <p:spPr>
          <a:xfrm xmlns:a="http://schemas.openxmlformats.org/drawingml/2006/main">
            <a:off x="1581150" y="50292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820"/>
                </a:solidFill>
                <a:latin typeface="Arial"/>
                <a:ea typeface="Arial"/>
                <a:cs typeface="Arial"/>
              </a:defRPr>
            </a:pPr>
            <a:r>
              <a:rPr sz="1650" b="1">
                <a:solidFill>
                  <a:srgbClr val="101820"/>
                </a:solidFill>
                <a:latin typeface="Arial"/>
                <a:ea typeface="Arial"/>
                <a:cs typeface="Arial"/>
              </a:rPr>
              <a:t>Close + center wins</a:t>
            </a:r>
          </a:p>
        </p:txBody>
      </p:sp>
      <p:sp>
        <p:nvSpPr>
          <p:cNvPr id="21" name="">
            <a:extLst xmlns:a="http://schemas.openxmlformats.org/drawingml/2006/main">
              <a:ext uri="{FF2B5EF4-FFF2-40B4-BE49-F238E27FC236}">
                <a16:creationId xmlns:a16="http://schemas.microsoft.com/office/drawing/2014/main" id="{E7137406-5A20-4BD1-AC42-41D13DE59D63}"/>
              </a:ext>
            </a:extLst>
          </p:cNvPr>
          <p:cNvSpPr>
            <a:spLocks xmlns:a="http://schemas.openxmlformats.org/drawingml/2006/main" noGrp="1"/>
          </p:cNvSpPr>
          <p:nvPr/>
        </p:nvSpPr>
        <p:spPr>
          <a:xfrm xmlns:a="http://schemas.openxmlformats.org/drawingml/2006/main">
            <a:off x="1581150" y="53911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359"/>
          </a:bodyPr>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10% frame area = medium · 25% = close</a:t>
            </a:r>
          </a:p>
        </p:txBody>
      </p:sp>
      <p:sp>
        <p:nvSpPr>
          <p:cNvPr id="22" name="">
            <a:extLst xmlns:a="http://schemas.openxmlformats.org/drawingml/2006/main">
              <a:ext uri="{FF2B5EF4-FFF2-40B4-BE49-F238E27FC236}">
                <a16:creationId xmlns:a16="http://schemas.microsoft.com/office/drawing/2014/main" id="{EDDB439F-99D6-4C48-88D2-820D28FAC8A9}"/>
              </a:ext>
            </a:extLst>
          </p:cNvPr>
          <p:cNvSpPr>
            <a:spLocks xmlns:a="http://schemas.openxmlformats.org/drawingml/2006/main" noGrp="1"/>
          </p:cNvSpPr>
          <p:nvPr/>
        </p:nvSpPr>
        <p:spPr>
          <a:xfrm xmlns:a="http://schemas.openxmlformats.org/drawingml/2006/main">
            <a:off x="4629150" y="50863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D64545"/>
                </a:solidFill>
                <a:latin typeface="Arial"/>
                <a:ea typeface="Arial"/>
                <a:cs typeface="Arial"/>
              </a:defRPr>
            </a:pPr>
            <a:r>
              <a:rPr sz="1125" b="1">
                <a:solidFill>
                  <a:srgbClr val="D64545"/>
                </a:solidFill>
                <a:latin typeface="Arial"/>
                <a:ea typeface="Arial"/>
                <a:cs typeface="Arial"/>
              </a:rPr>
              <a:t>GRADE APPROACH</a:t>
            </a:r>
          </a:p>
        </p:txBody>
      </p:sp>
      <p:sp>
        <p:nvSpPr>
          <p:cNvPr id="23" name="">
            <a:extLst xmlns:a="http://schemas.openxmlformats.org/drawingml/2006/main">
              <a:ext uri="{FF2B5EF4-FFF2-40B4-BE49-F238E27FC236}">
                <a16:creationId xmlns:a16="http://schemas.microsoft.com/office/drawing/2014/main" id="{6BAAF4E1-FB75-44BF-9FB9-A387180C3A08}"/>
              </a:ext>
            </a:extLst>
          </p:cNvPr>
          <p:cNvSpPr>
            <a:spLocks xmlns:a="http://schemas.openxmlformats.org/drawingml/2006/main" noGrp="1"/>
          </p:cNvSpPr>
          <p:nvPr/>
        </p:nvSpPr>
        <p:spPr>
          <a:xfrm xmlns:a="http://schemas.openxmlformats.org/drawingml/2006/main">
            <a:off x="6267450" y="5029200"/>
            <a:ext cx="302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820"/>
                </a:solidFill>
                <a:latin typeface="Arial"/>
                <a:ea typeface="Arial"/>
                <a:cs typeface="Arial"/>
              </a:defRPr>
            </a:pPr>
            <a:r>
              <a:rPr sz="1650" b="1">
                <a:solidFill>
                  <a:srgbClr val="101820"/>
                </a:solidFill>
                <a:latin typeface="Arial"/>
                <a:ea typeface="Arial"/>
                <a:cs typeface="Arial"/>
              </a:rPr>
              <a:t>Growth + trajectory + speed</a:t>
            </a:r>
          </a:p>
        </p:txBody>
      </p:sp>
      <p:sp>
        <p:nvSpPr>
          <p:cNvPr id="24" name="">
            <a:extLst xmlns:a="http://schemas.openxmlformats.org/drawingml/2006/main">
              <a:ext uri="{FF2B5EF4-FFF2-40B4-BE49-F238E27FC236}">
                <a16:creationId xmlns:a16="http://schemas.microsoft.com/office/drawing/2014/main" id="{84F7593C-B966-4410-B2F6-11C529D6CA36}"/>
              </a:ext>
            </a:extLst>
          </p:cNvPr>
          <p:cNvSpPr>
            <a:spLocks xmlns:a="http://schemas.openxmlformats.org/drawingml/2006/main" noGrp="1"/>
          </p:cNvSpPr>
          <p:nvPr/>
        </p:nvSpPr>
        <p:spPr>
          <a:xfrm xmlns:a="http://schemas.openxmlformats.org/drawingml/2006/main">
            <a:off x="6267450" y="5391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84"/>
          </a:bodyPr>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box grows · distance falls · moves center/down · moves fast</a:t>
            </a:r>
          </a:p>
        </p:txBody>
      </p:sp>
      <p:sp>
        <p:nvSpPr>
          <p:cNvPr id="25" name="">
            <a:extLst xmlns:a="http://schemas.openxmlformats.org/drawingml/2006/main">
              <a:ext uri="{FF2B5EF4-FFF2-40B4-BE49-F238E27FC236}">
                <a16:creationId xmlns:a16="http://schemas.microsoft.com/office/drawing/2014/main" id="{2E993DC8-0402-4E5B-A5A9-819D57CFEBC9}"/>
              </a:ext>
            </a:extLst>
          </p:cNvPr>
          <p:cNvSpPr>
            <a:spLocks xmlns:a="http://schemas.openxmlformats.org/drawingml/2006/main" noGrp="1"/>
          </p:cNvSpPr>
          <p:nvPr/>
        </p:nvSpPr>
        <p:spPr>
          <a:xfrm xmlns:a="http://schemas.openxmlformats.org/drawingml/2006/main">
            <a:off x="9010650" y="567690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r">
              <a:defRPr sz="1125" b="1">
                <a:solidFill>
                  <a:srgbClr val="D64545"/>
                </a:solidFill>
                <a:latin typeface="Arial"/>
                <a:ea typeface="Arial"/>
                <a:cs typeface="Arial"/>
              </a:defRPr>
            </a:pPr>
            <a:r>
              <a:rPr sz="1125" b="1">
                <a:solidFill>
                  <a:srgbClr val="D64545"/>
                </a:solidFill>
                <a:latin typeface="Arial"/>
                <a:ea typeface="Arial"/>
                <a:cs typeface="Arial"/>
              </a:rPr>
              <a:t>Risk score ≥ 4 medium · ≥ 6 high</a:t>
            </a:r>
          </a:p>
        </p:txBody>
      </p:sp>
    </p:spTree>
    <p:extLst>
      <p:ext uri="{BB962C8B-B14F-4D97-AF65-F5344CB8AC3E}">
        <p14:creationId xmlns:p14="http://schemas.microsoft.com/office/powerpoint/2010/main" val="6795687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4-title">
            <a:extLst xmlns:a="http://schemas.openxmlformats.org/drawingml/2006/main">
              <a:ext uri="{FF2B5EF4-FFF2-40B4-BE49-F238E27FC236}">
                <a16:creationId xmlns:a16="http://schemas.microsoft.com/office/drawing/2014/main" id="{17E64497-F944-4638-8D59-884193E5BD5F}"/>
              </a:ext>
            </a:extLst>
          </p:cNvPr>
          <p:cNvSpPr>
            <a:spLocks xmlns:a="http://schemas.openxmlformats.org/drawingml/2006/main" noGrp="1"/>
          </p:cNvSpPr>
          <p:nvPr/>
        </p:nvSpPr>
        <p:spPr>
          <a:xfrm xmlns:a="http://schemas.openxmlformats.org/drawingml/2006/main">
            <a:off x="400050" y="32385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820"/>
                </a:solidFill>
                <a:latin typeface="Arial"/>
                <a:ea typeface="Arial"/>
                <a:cs typeface="Arial"/>
              </a:defRPr>
            </a:pPr>
            <a:r>
              <a:rPr sz="2925" b="1">
                <a:solidFill>
                  <a:srgbClr val="101820"/>
                </a:solidFill>
                <a:latin typeface="Arial"/>
                <a:ea typeface="Arial"/>
                <a:cs typeface="Arial"/>
              </a:rPr>
              <a:t>Warnings escalate only when the evidence is stable</a:t>
            </a:r>
          </a:p>
        </p:txBody>
      </p:sp>
      <p:sp>
        <p:nvSpPr>
          <p:cNvPr id="2" name="">
            <a:extLst xmlns:a="http://schemas.openxmlformats.org/drawingml/2006/main">
              <a:ext uri="{FF2B5EF4-FFF2-40B4-BE49-F238E27FC236}">
                <a16:creationId xmlns:a16="http://schemas.microsoft.com/office/drawing/2014/main" id="{1D41926D-01B1-4A93-A5C3-F38523D8EAE3}"/>
              </a:ext>
            </a:extLst>
          </p:cNvPr>
          <p:cNvSpPr>
            <a:spLocks xmlns:a="http://schemas.openxmlformats.org/drawingml/2006/main" noGrp="1"/>
          </p:cNvSpPr>
          <p:nvPr/>
        </p:nvSpPr>
        <p:spPr>
          <a:xfrm xmlns:a="http://schemas.openxmlformats.org/drawingml/2006/main">
            <a:off x="112204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2606D"/>
                </a:solidFill>
                <a:latin typeface="Arial"/>
                <a:ea typeface="Arial"/>
                <a:cs typeface="Arial"/>
              </a:defRPr>
            </a:pPr>
            <a:r>
              <a:rPr sz="1050" b="0">
                <a:solidFill>
                  <a:srgbClr val="52606D"/>
                </a:solidFill>
                <a:latin typeface="Arial"/>
                <a:ea typeface="Arial"/>
                <a:cs typeface="Arial"/>
              </a:rPr>
              <a:t>04</a:t>
            </a:r>
          </a:p>
        </p:txBody>
      </p:sp>
      <p:cxnSp>
        <p:nvCxnSpPr>
          <p:cNvPr id="30" name=""/>
          <p:cNvCxnSpPr/>
          <p:nvPr/>
        </p:nvCxnSpPr>
        <p:spPr>
          <a:xfrm xmlns:a="http://schemas.openxmlformats.org/drawingml/2006/main">
            <a:off x="1047750" y="2533650"/>
            <a:ext cx="2857500" cy="0"/>
          </a:xfrm>
          <a:prstGeom xmlns:a="http://schemas.openxmlformats.org/drawingml/2006/main" prst="straightConnector1">
            <a:avLst/>
          </a:prstGeom>
          <a:ln xmlns:a="http://schemas.openxmlformats.org/drawingml/2006/main" w="19050">
            <a:solidFill>
              <a:srgbClr val="B8C2CC"/>
            </a:solidFill>
            <a:prstDash val="solid"/>
          </a:ln>
        </p:spPr>
      </p:cxnSp>
      <p:cxnSp>
        <p:nvCxnSpPr>
          <p:cNvPr id="31" name=""/>
          <p:cNvCxnSpPr/>
          <p:nvPr/>
        </p:nvCxnSpPr>
        <p:spPr>
          <a:xfrm xmlns:a="http://schemas.openxmlformats.org/drawingml/2006/main">
            <a:off x="3905250" y="2533650"/>
            <a:ext cx="2857500" cy="0"/>
          </a:xfrm>
          <a:prstGeom xmlns:a="http://schemas.openxmlformats.org/drawingml/2006/main" prst="straightConnector1">
            <a:avLst/>
          </a:prstGeom>
          <a:ln xmlns:a="http://schemas.openxmlformats.org/drawingml/2006/main" w="19050">
            <a:solidFill>
              <a:srgbClr val="B8C2CC"/>
            </a:solidFill>
            <a:prstDash val="solid"/>
          </a:ln>
        </p:spPr>
      </p:cxnSp>
      <p:cxnSp>
        <p:nvCxnSpPr>
          <p:cNvPr id="32" name=""/>
          <p:cNvCxnSpPr/>
          <p:nvPr/>
        </p:nvCxnSpPr>
        <p:spPr>
          <a:xfrm xmlns:a="http://schemas.openxmlformats.org/drawingml/2006/main">
            <a:off x="6762750" y="2533650"/>
            <a:ext cx="2857500" cy="0"/>
          </a:xfrm>
          <a:prstGeom xmlns:a="http://schemas.openxmlformats.org/drawingml/2006/main" prst="straightConnector1">
            <a:avLst/>
          </a:prstGeom>
          <a:ln xmlns:a="http://schemas.openxmlformats.org/drawingml/2006/main" w="19050">
            <a:solidFill>
              <a:srgbClr val="B8C2CC"/>
            </a:solidFill>
            <a:prstDash val="solid"/>
          </a:ln>
        </p:spPr>
      </p:cxnSp>
      <p:sp>
        <p:nvSpPr>
          <p:cNvPr id="6" name="">
            <a:extLst xmlns:a="http://schemas.openxmlformats.org/drawingml/2006/main">
              <a:ext uri="{FF2B5EF4-FFF2-40B4-BE49-F238E27FC236}">
                <a16:creationId xmlns:a16="http://schemas.microsoft.com/office/drawing/2014/main" id="{DAEA6980-ED0B-49F7-AB2B-E5494A5EC784}"/>
              </a:ext>
            </a:extLst>
          </p:cNvPr>
          <p:cNvSpPr>
            <a:spLocks xmlns:a="http://schemas.openxmlformats.org/drawingml/2006/main" noGrp="1"/>
          </p:cNvSpPr>
          <p:nvPr/>
        </p:nvSpPr>
        <p:spPr>
          <a:xfrm xmlns:a="http://schemas.openxmlformats.org/drawingml/2006/main">
            <a:off x="514350" y="1962150"/>
            <a:ext cx="20955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00A7B5"/>
            </a:solidFill>
            <a:prstDash val="solid"/>
          </a:ln>
        </p:spPr>
      </p:sp>
      <p:sp>
        <p:nvSpPr>
          <p:cNvPr id="7" name="">
            <a:extLst xmlns:a="http://schemas.openxmlformats.org/drawingml/2006/main">
              <a:ext uri="{FF2B5EF4-FFF2-40B4-BE49-F238E27FC236}">
                <a16:creationId xmlns:a16="http://schemas.microsoft.com/office/drawing/2014/main" id="{B2501CE3-741C-445C-A58C-EFA890B7702F}"/>
              </a:ext>
            </a:extLst>
          </p:cNvPr>
          <p:cNvSpPr>
            <a:spLocks xmlns:a="http://schemas.openxmlformats.org/drawingml/2006/main" noGrp="1"/>
          </p:cNvSpPr>
          <p:nvPr/>
        </p:nvSpPr>
        <p:spPr>
          <a:xfrm xmlns:a="http://schemas.openxmlformats.org/drawingml/2006/main">
            <a:off x="685800" y="21336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00A7B5"/>
                </a:solidFill>
                <a:latin typeface="Arial"/>
                <a:ea typeface="Arial"/>
                <a:cs typeface="Arial"/>
              </a:defRPr>
            </a:pPr>
            <a:r>
              <a:rPr sz="1200" b="1">
                <a:solidFill>
                  <a:srgbClr val="00A7B5"/>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A88946B-D111-43BC-9985-A251230EF8A9}"/>
              </a:ext>
            </a:extLst>
          </p:cNvPr>
          <p:cNvSpPr>
            <a:spLocks xmlns:a="http://schemas.openxmlformats.org/drawingml/2006/main" noGrp="1"/>
          </p:cNvSpPr>
          <p:nvPr/>
        </p:nvSpPr>
        <p:spPr>
          <a:xfrm xmlns:a="http://schemas.openxmlformats.org/drawingml/2006/main">
            <a:off x="685800" y="243840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Stabilize</a:t>
            </a:r>
          </a:p>
        </p:txBody>
      </p:sp>
      <p:sp>
        <p:nvSpPr>
          <p:cNvPr id="9" name="">
            <a:extLst xmlns:a="http://schemas.openxmlformats.org/drawingml/2006/main">
              <a:ext uri="{FF2B5EF4-FFF2-40B4-BE49-F238E27FC236}">
                <a16:creationId xmlns:a16="http://schemas.microsoft.com/office/drawing/2014/main" id="{408A46B9-4C73-473D-960C-26E3C2D80ECD}"/>
              </a:ext>
            </a:extLst>
          </p:cNvPr>
          <p:cNvSpPr>
            <a:spLocks xmlns:a="http://schemas.openxmlformats.org/drawingml/2006/main" noGrp="1"/>
          </p:cNvSpPr>
          <p:nvPr/>
        </p:nvSpPr>
        <p:spPr>
          <a:xfrm xmlns:a="http://schemas.openxmlformats.org/drawingml/2006/main">
            <a:off x="514350" y="3333750"/>
            <a:ext cx="2381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Smooth the box; hold a missed detection for 2 frames. Normal text must persist 4 frames; urgent stop can pass in 1.</a:t>
            </a:r>
          </a:p>
        </p:txBody>
      </p:sp>
      <p:sp>
        <p:nvSpPr>
          <p:cNvPr id="10" name="">
            <a:extLst xmlns:a="http://schemas.openxmlformats.org/drawingml/2006/main">
              <a:ext uri="{FF2B5EF4-FFF2-40B4-BE49-F238E27FC236}">
                <a16:creationId xmlns:a16="http://schemas.microsoft.com/office/drawing/2014/main" id="{4CE99D28-4F94-478C-905E-805C4FA8A26F}"/>
              </a:ext>
            </a:extLst>
          </p:cNvPr>
          <p:cNvSpPr>
            <a:spLocks xmlns:a="http://schemas.openxmlformats.org/drawingml/2006/main" noGrp="1"/>
          </p:cNvSpPr>
          <p:nvPr/>
        </p:nvSpPr>
        <p:spPr>
          <a:xfrm xmlns:a="http://schemas.openxmlformats.org/drawingml/2006/main">
            <a:off x="3371850" y="1962150"/>
            <a:ext cx="20955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43B02A"/>
            </a:solidFill>
            <a:prstDash val="solid"/>
          </a:ln>
        </p:spPr>
      </p:sp>
      <p:sp>
        <p:nvSpPr>
          <p:cNvPr id="11" name="">
            <a:extLst xmlns:a="http://schemas.openxmlformats.org/drawingml/2006/main">
              <a:ext uri="{FF2B5EF4-FFF2-40B4-BE49-F238E27FC236}">
                <a16:creationId xmlns:a16="http://schemas.microsoft.com/office/drawing/2014/main" id="{3479BE32-F6F0-4691-8FDC-07B171EB324D}"/>
              </a:ext>
            </a:extLst>
          </p:cNvPr>
          <p:cNvSpPr>
            <a:spLocks xmlns:a="http://schemas.openxmlformats.org/drawingml/2006/main" noGrp="1"/>
          </p:cNvSpPr>
          <p:nvPr/>
        </p:nvSpPr>
        <p:spPr>
          <a:xfrm xmlns:a="http://schemas.openxmlformats.org/drawingml/2006/main">
            <a:off x="3543300" y="21336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43B02A"/>
                </a:solidFill>
                <a:latin typeface="Arial"/>
                <a:ea typeface="Arial"/>
                <a:cs typeface="Arial"/>
              </a:defRPr>
            </a:pPr>
            <a:r>
              <a:rPr sz="1200" b="1">
                <a:solidFill>
                  <a:srgbClr val="43B02A"/>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0ABDC4DF-89BA-4111-9589-C526354977FC}"/>
              </a:ext>
            </a:extLst>
          </p:cNvPr>
          <p:cNvSpPr>
            <a:spLocks xmlns:a="http://schemas.openxmlformats.org/drawingml/2006/main" noGrp="1"/>
          </p:cNvSpPr>
          <p:nvPr/>
        </p:nvSpPr>
        <p:spPr>
          <a:xfrm xmlns:a="http://schemas.openxmlformats.org/drawingml/2006/main">
            <a:off x="3543300" y="243840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Classify</a:t>
            </a:r>
          </a:p>
        </p:txBody>
      </p:sp>
      <p:sp>
        <p:nvSpPr>
          <p:cNvPr id="13" name="">
            <a:extLst xmlns:a="http://schemas.openxmlformats.org/drawingml/2006/main">
              <a:ext uri="{FF2B5EF4-FFF2-40B4-BE49-F238E27FC236}">
                <a16:creationId xmlns:a16="http://schemas.microsoft.com/office/drawing/2014/main" id="{6A0CDEEA-E084-4D56-9CA8-44F3EB0E7A48}"/>
              </a:ext>
            </a:extLst>
          </p:cNvPr>
          <p:cNvSpPr>
            <a:spLocks xmlns:a="http://schemas.openxmlformats.org/drawingml/2006/main" noGrp="1"/>
          </p:cNvSpPr>
          <p:nvPr/>
        </p:nvSpPr>
        <p:spPr>
          <a:xfrm xmlns:a="http://schemas.openxmlformats.org/drawingml/2006/main">
            <a:off x="3371850" y="3333750"/>
            <a:ext cx="2381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Far + not approaching: silent</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Medium center: caution</a:t>
            </a:r>
          </a:p>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Close center: stop</a:t>
            </a:r>
          </a:p>
        </p:txBody>
      </p:sp>
      <p:sp>
        <p:nvSpPr>
          <p:cNvPr id="14" name="">
            <a:extLst xmlns:a="http://schemas.openxmlformats.org/drawingml/2006/main">
              <a:ext uri="{FF2B5EF4-FFF2-40B4-BE49-F238E27FC236}">
                <a16:creationId xmlns:a16="http://schemas.microsoft.com/office/drawing/2014/main" id="{A2BD3390-A123-4C66-90B7-42C3071AE66F}"/>
              </a:ext>
            </a:extLst>
          </p:cNvPr>
          <p:cNvSpPr>
            <a:spLocks xmlns:a="http://schemas.openxmlformats.org/drawingml/2006/main" noGrp="1"/>
          </p:cNvSpPr>
          <p:nvPr/>
        </p:nvSpPr>
        <p:spPr>
          <a:xfrm xmlns:a="http://schemas.openxmlformats.org/drawingml/2006/main">
            <a:off x="6229350" y="1962150"/>
            <a:ext cx="20955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F5A623"/>
            </a:solidFill>
            <a:prstDash val="solid"/>
          </a:ln>
        </p:spPr>
      </p:sp>
      <p:sp>
        <p:nvSpPr>
          <p:cNvPr id="15" name="">
            <a:extLst xmlns:a="http://schemas.openxmlformats.org/drawingml/2006/main">
              <a:ext uri="{FF2B5EF4-FFF2-40B4-BE49-F238E27FC236}">
                <a16:creationId xmlns:a16="http://schemas.microsoft.com/office/drawing/2014/main" id="{ABFE37D9-D25A-460A-9064-52235DC881E3}"/>
              </a:ext>
            </a:extLst>
          </p:cNvPr>
          <p:cNvSpPr>
            <a:spLocks xmlns:a="http://schemas.openxmlformats.org/drawingml/2006/main" noGrp="1"/>
          </p:cNvSpPr>
          <p:nvPr/>
        </p:nvSpPr>
        <p:spPr>
          <a:xfrm xmlns:a="http://schemas.openxmlformats.org/drawingml/2006/main">
            <a:off x="6400800" y="21336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F5A623"/>
                </a:solidFill>
                <a:latin typeface="Arial"/>
                <a:ea typeface="Arial"/>
                <a:cs typeface="Arial"/>
              </a:defRPr>
            </a:pPr>
            <a:r>
              <a:rPr sz="1200" b="1">
                <a:solidFill>
                  <a:srgbClr val="F5A623"/>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C015CBF8-0C90-43CF-AFED-140892AB5237}"/>
              </a:ext>
            </a:extLst>
          </p:cNvPr>
          <p:cNvSpPr>
            <a:spLocks xmlns:a="http://schemas.openxmlformats.org/drawingml/2006/main" noGrp="1"/>
          </p:cNvSpPr>
          <p:nvPr/>
        </p:nvSpPr>
        <p:spPr>
          <a:xfrm xmlns:a="http://schemas.openxmlformats.org/drawingml/2006/main">
            <a:off x="6400800" y="243840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Upgrade</a:t>
            </a:r>
          </a:p>
        </p:txBody>
      </p:sp>
      <p:sp>
        <p:nvSpPr>
          <p:cNvPr id="17" name="">
            <a:extLst xmlns:a="http://schemas.openxmlformats.org/drawingml/2006/main">
              <a:ext uri="{FF2B5EF4-FFF2-40B4-BE49-F238E27FC236}">
                <a16:creationId xmlns:a16="http://schemas.microsoft.com/office/drawing/2014/main" id="{80EBDF2E-7445-4789-B816-84039E83E0CD}"/>
              </a:ext>
            </a:extLst>
          </p:cNvPr>
          <p:cNvSpPr>
            <a:spLocks xmlns:a="http://schemas.openxmlformats.org/drawingml/2006/main" noGrp="1"/>
          </p:cNvSpPr>
          <p:nvPr/>
        </p:nvSpPr>
        <p:spPr>
          <a:xfrm xmlns:a="http://schemas.openxmlformats.org/drawingml/2006/main">
            <a:off x="6229350" y="3333750"/>
            <a:ext cx="2381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Medium/high approach can promote a far object to caution. Close + center + approaching becomes an urgent stop.</a:t>
            </a:r>
          </a:p>
        </p:txBody>
      </p:sp>
      <p:sp>
        <p:nvSpPr>
          <p:cNvPr id="18" name="">
            <a:extLst xmlns:a="http://schemas.openxmlformats.org/drawingml/2006/main">
              <a:ext uri="{FF2B5EF4-FFF2-40B4-BE49-F238E27FC236}">
                <a16:creationId xmlns:a16="http://schemas.microsoft.com/office/drawing/2014/main" id="{89A5B0AC-8773-42EB-97EB-7E3708EFB281}"/>
              </a:ext>
            </a:extLst>
          </p:cNvPr>
          <p:cNvSpPr>
            <a:spLocks xmlns:a="http://schemas.openxmlformats.org/drawingml/2006/main" noGrp="1"/>
          </p:cNvSpPr>
          <p:nvPr/>
        </p:nvSpPr>
        <p:spPr>
          <a:xfrm xmlns:a="http://schemas.openxmlformats.org/drawingml/2006/main">
            <a:off x="9086850" y="1962150"/>
            <a:ext cx="20955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D64545"/>
            </a:solidFill>
            <a:prstDash val="solid"/>
          </a:ln>
        </p:spPr>
      </p:sp>
      <p:sp>
        <p:nvSpPr>
          <p:cNvPr id="19" name="">
            <a:extLst xmlns:a="http://schemas.openxmlformats.org/drawingml/2006/main">
              <a:ext uri="{FF2B5EF4-FFF2-40B4-BE49-F238E27FC236}">
                <a16:creationId xmlns:a16="http://schemas.microsoft.com/office/drawing/2014/main" id="{738492F8-DB65-440D-9BB2-46641E0E64DD}"/>
              </a:ext>
            </a:extLst>
          </p:cNvPr>
          <p:cNvSpPr>
            <a:spLocks xmlns:a="http://schemas.openxmlformats.org/drawingml/2006/main" noGrp="1"/>
          </p:cNvSpPr>
          <p:nvPr/>
        </p:nvSpPr>
        <p:spPr>
          <a:xfrm xmlns:a="http://schemas.openxmlformats.org/drawingml/2006/main">
            <a:off x="9258300" y="21336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D64545"/>
                </a:solidFill>
                <a:latin typeface="Arial"/>
                <a:ea typeface="Arial"/>
                <a:cs typeface="Arial"/>
              </a:defRPr>
            </a:pPr>
            <a:r>
              <a:rPr sz="1200" b="1">
                <a:solidFill>
                  <a:srgbClr val="D64545"/>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2F61A72C-EA8C-4EA3-8B46-A172F9329EBC}"/>
              </a:ext>
            </a:extLst>
          </p:cNvPr>
          <p:cNvSpPr>
            <a:spLocks xmlns:a="http://schemas.openxmlformats.org/drawingml/2006/main" noGrp="1"/>
          </p:cNvSpPr>
          <p:nvPr/>
        </p:nvSpPr>
        <p:spPr>
          <a:xfrm xmlns:a="http://schemas.openxmlformats.org/drawingml/2006/main">
            <a:off x="9258300" y="243840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Deliver</a:t>
            </a:r>
          </a:p>
        </p:txBody>
      </p:sp>
      <p:sp>
        <p:nvSpPr>
          <p:cNvPr id="21" name="">
            <a:extLst xmlns:a="http://schemas.openxmlformats.org/drawingml/2006/main">
              <a:ext uri="{FF2B5EF4-FFF2-40B4-BE49-F238E27FC236}">
                <a16:creationId xmlns:a16="http://schemas.microsoft.com/office/drawing/2014/main" id="{8C3C0AA9-9A4B-4A93-84BA-E8409AEBEA3F}"/>
              </a:ext>
            </a:extLst>
          </p:cNvPr>
          <p:cNvSpPr>
            <a:spLocks xmlns:a="http://schemas.openxmlformats.org/drawingml/2006/main" noGrp="1"/>
          </p:cNvSpPr>
          <p:nvPr/>
        </p:nvSpPr>
        <p:spPr>
          <a:xfrm xmlns:a="http://schemas.openxmlformats.org/drawingml/2006/main">
            <a:off x="9086850" y="3333750"/>
            <a:ext cx="2381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Print stable text. Use non-blocking audio so the camera loop never waits for a beep or speech.</a:t>
            </a:r>
          </a:p>
        </p:txBody>
      </p:sp>
      <p:sp>
        <p:nvSpPr>
          <p:cNvPr id="22" name="">
            <a:extLst xmlns:a="http://schemas.openxmlformats.org/drawingml/2006/main">
              <a:ext uri="{FF2B5EF4-FFF2-40B4-BE49-F238E27FC236}">
                <a16:creationId xmlns:a16="http://schemas.microsoft.com/office/drawing/2014/main" id="{D10F7D8B-221D-4769-A2E5-9265F6EEFE75}"/>
              </a:ext>
            </a:extLst>
          </p:cNvPr>
          <p:cNvSpPr>
            <a:spLocks xmlns:a="http://schemas.openxmlformats.org/drawingml/2006/main" noGrp="1"/>
          </p:cNvSpPr>
          <p:nvPr/>
        </p:nvSpPr>
        <p:spPr>
          <a:xfrm xmlns:a="http://schemas.openxmlformats.org/drawingml/2006/main">
            <a:off x="419100" y="5010150"/>
            <a:ext cx="11144250" cy="952500"/>
          </a:xfrm>
          <a:prstGeom xmlns:a="http://schemas.openxmlformats.org/drawingml/2006/main" prst="roundRect">
            <a:avLst>
              <a:gd name="adj" fmla="val 12000"/>
            </a:avLst>
          </a:prstGeom>
          <a:solidFill xmlns:a="http://schemas.openxmlformats.org/drawingml/2006/main">
            <a:srgbClr val="F3F6F8"/>
          </a:solidFill>
          <a:ln xmlns:a="http://schemas.openxmlformats.org/drawingml/2006/main" w="11430">
            <a:solidFill>
              <a:srgbClr val="B8C2CC"/>
            </a:solidFill>
            <a:prstDash val="solid"/>
          </a:ln>
        </p:spPr>
      </p:sp>
      <p:sp>
        <p:nvSpPr>
          <p:cNvPr id="23" name="">
            <a:extLst xmlns:a="http://schemas.openxmlformats.org/drawingml/2006/main">
              <a:ext uri="{FF2B5EF4-FFF2-40B4-BE49-F238E27FC236}">
                <a16:creationId xmlns:a16="http://schemas.microsoft.com/office/drawing/2014/main" id="{1B0F4472-07F6-46AC-9108-E61F93764191}"/>
              </a:ext>
            </a:extLst>
          </p:cNvPr>
          <p:cNvSpPr>
            <a:spLocks xmlns:a="http://schemas.openxmlformats.org/drawingml/2006/main" noGrp="1"/>
          </p:cNvSpPr>
          <p:nvPr/>
        </p:nvSpPr>
        <p:spPr>
          <a:xfrm xmlns:a="http://schemas.openxmlformats.org/drawingml/2006/main">
            <a:off x="647700" y="5219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D64545"/>
                </a:solidFill>
                <a:latin typeface="Arial"/>
                <a:ea typeface="Arial"/>
                <a:cs typeface="Arial"/>
              </a:defRPr>
            </a:pPr>
            <a:r>
              <a:rPr sz="1125" b="1">
                <a:solidFill>
                  <a:srgbClr val="D64545"/>
                </a:solidFill>
                <a:latin typeface="Arial"/>
                <a:ea typeface="Arial"/>
                <a:cs typeface="Arial"/>
              </a:rPr>
              <a:t>CAUTION POLICY</a:t>
            </a:r>
          </a:p>
        </p:txBody>
      </p:sp>
      <p:sp>
        <p:nvSpPr>
          <p:cNvPr id="24" name="">
            <a:extLst xmlns:a="http://schemas.openxmlformats.org/drawingml/2006/main">
              <a:ext uri="{FF2B5EF4-FFF2-40B4-BE49-F238E27FC236}">
                <a16:creationId xmlns:a16="http://schemas.microsoft.com/office/drawing/2014/main" id="{5259F004-2BD3-4491-8BA9-93D0CBB69D8E}"/>
              </a:ext>
            </a:extLst>
          </p:cNvPr>
          <p:cNvSpPr>
            <a:spLocks xmlns:a="http://schemas.openxmlformats.org/drawingml/2006/main" noGrp="1"/>
          </p:cNvSpPr>
          <p:nvPr/>
        </p:nvSpPr>
        <p:spPr>
          <a:xfrm xmlns:a="http://schemas.openxmlformats.org/drawingml/2006/main">
            <a:off x="2247900" y="51625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820"/>
                </a:solidFill>
                <a:latin typeface="Arial"/>
                <a:ea typeface="Arial"/>
                <a:cs typeface="Arial"/>
              </a:defRPr>
            </a:pPr>
            <a:r>
              <a:rPr sz="1650" b="1">
                <a:solidFill>
                  <a:srgbClr val="101820"/>
                </a:solidFill>
                <a:latin typeface="Arial"/>
                <a:ea typeface="Arial"/>
                <a:cs typeface="Arial"/>
              </a:rPr>
              <a:t>“Caution. approaching car ahead.”</a:t>
            </a:r>
          </a:p>
        </p:txBody>
      </p:sp>
      <p:sp>
        <p:nvSpPr>
          <p:cNvPr id="25" name="">
            <a:extLst xmlns:a="http://schemas.openxmlformats.org/drawingml/2006/main">
              <a:ext uri="{FF2B5EF4-FFF2-40B4-BE49-F238E27FC236}">
                <a16:creationId xmlns:a16="http://schemas.microsoft.com/office/drawing/2014/main" id="{4EB8F9A8-6D28-4941-96C3-17E75E4D8236}"/>
              </a:ext>
            </a:extLst>
          </p:cNvPr>
          <p:cNvSpPr>
            <a:spLocks xmlns:a="http://schemas.openxmlformats.org/drawingml/2006/main" noGrp="1"/>
          </p:cNvSpPr>
          <p:nvPr/>
        </p:nvSpPr>
        <p:spPr>
          <a:xfrm xmlns:a="http://schemas.openxmlformats.org/drawingml/2006/main">
            <a:off x="2247900" y="55245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 terminal warning + vehicle/approach beep</a:t>
            </a:r>
          </a:p>
        </p:txBody>
      </p:sp>
      <p:sp>
        <p:nvSpPr>
          <p:cNvPr id="26" name="">
            <a:extLst xmlns:a="http://schemas.openxmlformats.org/drawingml/2006/main">
              <a:ext uri="{FF2B5EF4-FFF2-40B4-BE49-F238E27FC236}">
                <a16:creationId xmlns:a16="http://schemas.microsoft.com/office/drawing/2014/main" id="{E888007C-BB9A-4FB3-8F92-796231C7FF91}"/>
              </a:ext>
            </a:extLst>
          </p:cNvPr>
          <p:cNvSpPr>
            <a:spLocks xmlns:a="http://schemas.openxmlformats.org/drawingml/2006/main" noGrp="1"/>
          </p:cNvSpPr>
          <p:nvPr/>
        </p:nvSpPr>
        <p:spPr>
          <a:xfrm xmlns:a="http://schemas.openxmlformats.org/drawingml/2006/main">
            <a:off x="6686550" y="51625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a:solidFill>
                  <a:srgbClr val="101820"/>
                </a:solidFill>
                <a:latin typeface="Arial"/>
                <a:ea typeface="Arial"/>
                <a:cs typeface="Arial"/>
              </a:defRPr>
            </a:pPr>
            <a:r>
              <a:rPr sz="1500" b="1">
                <a:solidFill>
                  <a:srgbClr val="101820"/>
                </a:solidFill>
                <a:latin typeface="Arial"/>
                <a:ea typeface="Arial"/>
                <a:cs typeface="Arial"/>
              </a:rPr>
              <a:t>Anti-spam</a:t>
            </a:r>
          </a:p>
        </p:txBody>
      </p:sp>
      <p:sp>
        <p:nvSpPr>
          <p:cNvPr id="27" name="">
            <a:extLst xmlns:a="http://schemas.openxmlformats.org/drawingml/2006/main">
              <a:ext uri="{FF2B5EF4-FFF2-40B4-BE49-F238E27FC236}">
                <a16:creationId xmlns:a16="http://schemas.microsoft.com/office/drawing/2014/main" id="{376EAC94-1441-41BF-9E70-611D94A8B7B5}"/>
              </a:ext>
            </a:extLst>
          </p:cNvPr>
          <p:cNvSpPr>
            <a:spLocks xmlns:a="http://schemas.openxmlformats.org/drawingml/2006/main" noGrp="1"/>
          </p:cNvSpPr>
          <p:nvPr/>
        </p:nvSpPr>
        <p:spPr>
          <a:xfrm xmlns:a="http://schemas.openxmlformats.org/drawingml/2006/main">
            <a:off x="6686550" y="552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beep ≥ 2 s apart · urgent repeat 5 s · normal repeat 8 s</a:t>
            </a:r>
          </a:p>
        </p:txBody>
      </p:sp>
    </p:spTree>
    <p:extLst>
      <p:ext uri="{BB962C8B-B14F-4D97-AF65-F5344CB8AC3E}">
        <p14:creationId xmlns:p14="http://schemas.microsoft.com/office/powerpoint/2010/main" val="691358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2026-07-14T21:02:23.5480000Z</dcterms:created>
  <dcterms:modified xsi:type="dcterms:W3CDTF">2026-07-14T21:02:23.5480000Z</dcterms:modified>
</coreProperties>
</file>